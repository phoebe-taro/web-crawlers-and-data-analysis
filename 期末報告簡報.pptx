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81" r:id="rId3"/>
    <p:sldId id="269" r:id="rId4"/>
    <p:sldId id="279" r:id="rId5"/>
    <p:sldId id="266" r:id="rId6"/>
    <p:sldId id="280" r:id="rId7"/>
    <p:sldId id="268" r:id="rId8"/>
    <p:sldId id="264" r:id="rId9"/>
    <p:sldId id="288" r:id="rId10"/>
    <p:sldId id="284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8D58-9FDD-4C58-9FC4-4667448151F3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8A948-9DDE-4D71-BE98-DB3674A985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0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4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1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4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98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893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920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062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05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8A948-9DDE-4D71-BE98-DB3674A9852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437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8A948-9DDE-4D71-BE98-DB3674A9852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3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74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9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68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2028825"/>
            <a:ext cx="5946775" cy="4273550"/>
          </a:xfrm>
          <a:custGeom>
            <a:avLst/>
            <a:gdLst>
              <a:gd name="connsiteX0" fmla="*/ 0 w 5946775"/>
              <a:gd name="connsiteY0" fmla="*/ 0 h 4273550"/>
              <a:gd name="connsiteX1" fmla="*/ 5946775 w 5946775"/>
              <a:gd name="connsiteY1" fmla="*/ 0 h 4273550"/>
              <a:gd name="connsiteX2" fmla="*/ 4799812 w 5946775"/>
              <a:gd name="connsiteY2" fmla="*/ 4273550 h 4273550"/>
              <a:gd name="connsiteX3" fmla="*/ 0 w 5946775"/>
              <a:gd name="connsiteY3" fmla="*/ 4273550 h 427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6775" h="4273550">
                <a:moveTo>
                  <a:pt x="0" y="0"/>
                </a:moveTo>
                <a:lnTo>
                  <a:pt x="5946775" y="0"/>
                </a:lnTo>
                <a:lnTo>
                  <a:pt x="4799812" y="4273550"/>
                </a:lnTo>
                <a:lnTo>
                  <a:pt x="0" y="42735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165898" y="2191235"/>
            <a:ext cx="1855499" cy="3315152"/>
          </a:xfrm>
          <a:custGeom>
            <a:avLst/>
            <a:gdLst>
              <a:gd name="connsiteX0" fmla="*/ 0 w 1855499"/>
              <a:gd name="connsiteY0" fmla="*/ 0 h 3315152"/>
              <a:gd name="connsiteX1" fmla="*/ 1855499 w 1855499"/>
              <a:gd name="connsiteY1" fmla="*/ 0 h 3315152"/>
              <a:gd name="connsiteX2" fmla="*/ 1855499 w 1855499"/>
              <a:gd name="connsiteY2" fmla="*/ 3315152 h 3315152"/>
              <a:gd name="connsiteX3" fmla="*/ 0 w 1855499"/>
              <a:gd name="connsiteY3" fmla="*/ 3315152 h 3315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5499" h="3315152">
                <a:moveTo>
                  <a:pt x="0" y="0"/>
                </a:moveTo>
                <a:lnTo>
                  <a:pt x="1855499" y="0"/>
                </a:lnTo>
                <a:lnTo>
                  <a:pt x="1855499" y="3315152"/>
                </a:lnTo>
                <a:lnTo>
                  <a:pt x="0" y="331515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9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701800" y="2187697"/>
            <a:ext cx="1568450" cy="1568450"/>
          </a:xfrm>
          <a:custGeom>
            <a:avLst/>
            <a:gdLst>
              <a:gd name="connsiteX0" fmla="*/ 784225 w 1568450"/>
              <a:gd name="connsiteY0" fmla="*/ 0 h 1568450"/>
              <a:gd name="connsiteX1" fmla="*/ 1568450 w 1568450"/>
              <a:gd name="connsiteY1" fmla="*/ 784225 h 1568450"/>
              <a:gd name="connsiteX2" fmla="*/ 784225 w 1568450"/>
              <a:gd name="connsiteY2" fmla="*/ 1568450 h 1568450"/>
              <a:gd name="connsiteX3" fmla="*/ 0 w 1568450"/>
              <a:gd name="connsiteY3" fmla="*/ 784225 h 1568450"/>
              <a:gd name="connsiteX4" fmla="*/ 784225 w 1568450"/>
              <a:gd name="connsiteY4" fmla="*/ 0 h 156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1568450">
                <a:moveTo>
                  <a:pt x="784225" y="0"/>
                </a:moveTo>
                <a:cubicBezTo>
                  <a:pt x="1217341" y="0"/>
                  <a:pt x="1568450" y="351109"/>
                  <a:pt x="1568450" y="784225"/>
                </a:cubicBezTo>
                <a:cubicBezTo>
                  <a:pt x="1568450" y="1217341"/>
                  <a:pt x="1217341" y="1568450"/>
                  <a:pt x="784225" y="1568450"/>
                </a:cubicBezTo>
                <a:cubicBezTo>
                  <a:pt x="351109" y="1568450"/>
                  <a:pt x="0" y="1217341"/>
                  <a:pt x="0" y="784225"/>
                </a:cubicBezTo>
                <a:cubicBezTo>
                  <a:pt x="0" y="351109"/>
                  <a:pt x="351109" y="0"/>
                  <a:pt x="784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92725" y="2187697"/>
            <a:ext cx="1566864" cy="1568450"/>
          </a:xfrm>
          <a:custGeom>
            <a:avLst/>
            <a:gdLst>
              <a:gd name="connsiteX0" fmla="*/ 783432 w 1566864"/>
              <a:gd name="connsiteY0" fmla="*/ 0 h 1568450"/>
              <a:gd name="connsiteX1" fmla="*/ 1566864 w 1566864"/>
              <a:gd name="connsiteY1" fmla="*/ 784225 h 1568450"/>
              <a:gd name="connsiteX2" fmla="*/ 783432 w 1566864"/>
              <a:gd name="connsiteY2" fmla="*/ 1568450 h 1568450"/>
              <a:gd name="connsiteX3" fmla="*/ 0 w 1566864"/>
              <a:gd name="connsiteY3" fmla="*/ 784225 h 1568450"/>
              <a:gd name="connsiteX4" fmla="*/ 783432 w 1566864"/>
              <a:gd name="connsiteY4" fmla="*/ 0 h 156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6864" h="1568450">
                <a:moveTo>
                  <a:pt x="783432" y="0"/>
                </a:moveTo>
                <a:cubicBezTo>
                  <a:pt x="1216110" y="0"/>
                  <a:pt x="1566864" y="351109"/>
                  <a:pt x="1566864" y="784225"/>
                </a:cubicBezTo>
                <a:cubicBezTo>
                  <a:pt x="1566864" y="1217341"/>
                  <a:pt x="1216110" y="1568450"/>
                  <a:pt x="783432" y="1568450"/>
                </a:cubicBezTo>
                <a:cubicBezTo>
                  <a:pt x="350754" y="1568450"/>
                  <a:pt x="0" y="1217341"/>
                  <a:pt x="0" y="784225"/>
                </a:cubicBezTo>
                <a:cubicBezTo>
                  <a:pt x="0" y="351109"/>
                  <a:pt x="350754" y="0"/>
                  <a:pt x="7834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921750" y="2187697"/>
            <a:ext cx="1568450" cy="1568450"/>
          </a:xfrm>
          <a:custGeom>
            <a:avLst/>
            <a:gdLst>
              <a:gd name="connsiteX0" fmla="*/ 784225 w 1568450"/>
              <a:gd name="connsiteY0" fmla="*/ 0 h 1568450"/>
              <a:gd name="connsiteX1" fmla="*/ 1568450 w 1568450"/>
              <a:gd name="connsiteY1" fmla="*/ 784225 h 1568450"/>
              <a:gd name="connsiteX2" fmla="*/ 784225 w 1568450"/>
              <a:gd name="connsiteY2" fmla="*/ 1568450 h 1568450"/>
              <a:gd name="connsiteX3" fmla="*/ 0 w 1568450"/>
              <a:gd name="connsiteY3" fmla="*/ 784225 h 1568450"/>
              <a:gd name="connsiteX4" fmla="*/ 784225 w 1568450"/>
              <a:gd name="connsiteY4" fmla="*/ 0 h 156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1568450">
                <a:moveTo>
                  <a:pt x="784225" y="0"/>
                </a:moveTo>
                <a:cubicBezTo>
                  <a:pt x="1217341" y="0"/>
                  <a:pt x="1568450" y="351109"/>
                  <a:pt x="1568450" y="784225"/>
                </a:cubicBezTo>
                <a:cubicBezTo>
                  <a:pt x="1568450" y="1217341"/>
                  <a:pt x="1217341" y="1568450"/>
                  <a:pt x="784225" y="1568450"/>
                </a:cubicBezTo>
                <a:cubicBezTo>
                  <a:pt x="351109" y="1568450"/>
                  <a:pt x="0" y="1217341"/>
                  <a:pt x="0" y="784225"/>
                </a:cubicBezTo>
                <a:cubicBezTo>
                  <a:pt x="0" y="351109"/>
                  <a:pt x="351109" y="0"/>
                  <a:pt x="7842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37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36625" y="3794126"/>
            <a:ext cx="2952750" cy="2143125"/>
          </a:xfrm>
          <a:custGeom>
            <a:avLst/>
            <a:gdLst>
              <a:gd name="connsiteX0" fmla="*/ 0 w 2952750"/>
              <a:gd name="connsiteY0" fmla="*/ 0 h 2143125"/>
              <a:gd name="connsiteX1" fmla="*/ 2952750 w 2952750"/>
              <a:gd name="connsiteY1" fmla="*/ 0 h 2143125"/>
              <a:gd name="connsiteX2" fmla="*/ 2952750 w 2952750"/>
              <a:gd name="connsiteY2" fmla="*/ 2143125 h 2143125"/>
              <a:gd name="connsiteX3" fmla="*/ 0 w 2952750"/>
              <a:gd name="connsiteY3" fmla="*/ 2143125 h 214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750" h="2143125">
                <a:moveTo>
                  <a:pt x="0" y="0"/>
                </a:moveTo>
                <a:lnTo>
                  <a:pt x="2952750" y="0"/>
                </a:lnTo>
                <a:lnTo>
                  <a:pt x="2952750" y="2143125"/>
                </a:lnTo>
                <a:lnTo>
                  <a:pt x="0" y="21431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8310564" y="1619251"/>
            <a:ext cx="2841625" cy="2143125"/>
          </a:xfrm>
          <a:custGeom>
            <a:avLst/>
            <a:gdLst>
              <a:gd name="connsiteX0" fmla="*/ 0 w 2841625"/>
              <a:gd name="connsiteY0" fmla="*/ 0 h 2143125"/>
              <a:gd name="connsiteX1" fmla="*/ 2841625 w 2841625"/>
              <a:gd name="connsiteY1" fmla="*/ 0 h 2143125"/>
              <a:gd name="connsiteX2" fmla="*/ 2841625 w 2841625"/>
              <a:gd name="connsiteY2" fmla="*/ 2143125 h 2143125"/>
              <a:gd name="connsiteX3" fmla="*/ 0 w 2841625"/>
              <a:gd name="connsiteY3" fmla="*/ 2143125 h 214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1625" h="2143125">
                <a:moveTo>
                  <a:pt x="0" y="0"/>
                </a:moveTo>
                <a:lnTo>
                  <a:pt x="2841625" y="0"/>
                </a:lnTo>
                <a:lnTo>
                  <a:pt x="2841625" y="2143125"/>
                </a:lnTo>
                <a:lnTo>
                  <a:pt x="0" y="21431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50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391244" y="2209536"/>
            <a:ext cx="4342474" cy="2453930"/>
          </a:xfrm>
          <a:custGeom>
            <a:avLst/>
            <a:gdLst>
              <a:gd name="connsiteX0" fmla="*/ 0 w 4342474"/>
              <a:gd name="connsiteY0" fmla="*/ 0 h 2453930"/>
              <a:gd name="connsiteX1" fmla="*/ 4342474 w 4342474"/>
              <a:gd name="connsiteY1" fmla="*/ 0 h 2453930"/>
              <a:gd name="connsiteX2" fmla="*/ 4342474 w 4342474"/>
              <a:gd name="connsiteY2" fmla="*/ 2453930 h 2453930"/>
              <a:gd name="connsiteX3" fmla="*/ 0 w 4342474"/>
              <a:gd name="connsiteY3" fmla="*/ 2453930 h 2453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2474" h="2453930">
                <a:moveTo>
                  <a:pt x="0" y="0"/>
                </a:moveTo>
                <a:lnTo>
                  <a:pt x="4342474" y="0"/>
                </a:lnTo>
                <a:lnTo>
                  <a:pt x="4342474" y="2453930"/>
                </a:lnTo>
                <a:lnTo>
                  <a:pt x="0" y="24539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77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451607" y="2143736"/>
            <a:ext cx="1491254" cy="1491254"/>
          </a:xfrm>
          <a:custGeom>
            <a:avLst/>
            <a:gdLst>
              <a:gd name="connsiteX0" fmla="*/ 745627 w 1491254"/>
              <a:gd name="connsiteY0" fmla="*/ 0 h 1491254"/>
              <a:gd name="connsiteX1" fmla="*/ 1491254 w 1491254"/>
              <a:gd name="connsiteY1" fmla="*/ 745627 h 1491254"/>
              <a:gd name="connsiteX2" fmla="*/ 745627 w 1491254"/>
              <a:gd name="connsiteY2" fmla="*/ 1491254 h 1491254"/>
              <a:gd name="connsiteX3" fmla="*/ 0 w 1491254"/>
              <a:gd name="connsiteY3" fmla="*/ 745627 h 1491254"/>
              <a:gd name="connsiteX4" fmla="*/ 745627 w 1491254"/>
              <a:gd name="connsiteY4" fmla="*/ 0 h 149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1254" h="1491254">
                <a:moveTo>
                  <a:pt x="745627" y="0"/>
                </a:moveTo>
                <a:cubicBezTo>
                  <a:pt x="1157425" y="0"/>
                  <a:pt x="1491254" y="333829"/>
                  <a:pt x="1491254" y="745627"/>
                </a:cubicBezTo>
                <a:cubicBezTo>
                  <a:pt x="1491254" y="1157425"/>
                  <a:pt x="1157425" y="1491254"/>
                  <a:pt x="745627" y="1491254"/>
                </a:cubicBezTo>
                <a:cubicBezTo>
                  <a:pt x="333829" y="1491254"/>
                  <a:pt x="0" y="1157425"/>
                  <a:pt x="0" y="745627"/>
                </a:cubicBezTo>
                <a:cubicBezTo>
                  <a:pt x="0" y="333829"/>
                  <a:pt x="333829" y="0"/>
                  <a:pt x="745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050784" y="3953598"/>
            <a:ext cx="1491254" cy="1491254"/>
          </a:xfrm>
          <a:custGeom>
            <a:avLst/>
            <a:gdLst>
              <a:gd name="connsiteX0" fmla="*/ 745627 w 1491254"/>
              <a:gd name="connsiteY0" fmla="*/ 0 h 1491254"/>
              <a:gd name="connsiteX1" fmla="*/ 1491254 w 1491254"/>
              <a:gd name="connsiteY1" fmla="*/ 745627 h 1491254"/>
              <a:gd name="connsiteX2" fmla="*/ 745627 w 1491254"/>
              <a:gd name="connsiteY2" fmla="*/ 1491254 h 1491254"/>
              <a:gd name="connsiteX3" fmla="*/ 0 w 1491254"/>
              <a:gd name="connsiteY3" fmla="*/ 745627 h 1491254"/>
              <a:gd name="connsiteX4" fmla="*/ 745627 w 1491254"/>
              <a:gd name="connsiteY4" fmla="*/ 0 h 149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1254" h="1491254">
                <a:moveTo>
                  <a:pt x="745627" y="0"/>
                </a:moveTo>
                <a:cubicBezTo>
                  <a:pt x="1157425" y="0"/>
                  <a:pt x="1491254" y="333829"/>
                  <a:pt x="1491254" y="745627"/>
                </a:cubicBezTo>
                <a:cubicBezTo>
                  <a:pt x="1491254" y="1157425"/>
                  <a:pt x="1157425" y="1491254"/>
                  <a:pt x="745627" y="1491254"/>
                </a:cubicBezTo>
                <a:cubicBezTo>
                  <a:pt x="333829" y="1491254"/>
                  <a:pt x="0" y="1157425"/>
                  <a:pt x="0" y="745627"/>
                </a:cubicBezTo>
                <a:cubicBezTo>
                  <a:pt x="0" y="333829"/>
                  <a:pt x="333829" y="0"/>
                  <a:pt x="745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49961" y="2143736"/>
            <a:ext cx="1491254" cy="1491254"/>
          </a:xfrm>
          <a:custGeom>
            <a:avLst/>
            <a:gdLst>
              <a:gd name="connsiteX0" fmla="*/ 745627 w 1491254"/>
              <a:gd name="connsiteY0" fmla="*/ 0 h 1491254"/>
              <a:gd name="connsiteX1" fmla="*/ 1491254 w 1491254"/>
              <a:gd name="connsiteY1" fmla="*/ 745627 h 1491254"/>
              <a:gd name="connsiteX2" fmla="*/ 745627 w 1491254"/>
              <a:gd name="connsiteY2" fmla="*/ 1491254 h 1491254"/>
              <a:gd name="connsiteX3" fmla="*/ 0 w 1491254"/>
              <a:gd name="connsiteY3" fmla="*/ 745627 h 1491254"/>
              <a:gd name="connsiteX4" fmla="*/ 745627 w 1491254"/>
              <a:gd name="connsiteY4" fmla="*/ 0 h 149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1254" h="1491254">
                <a:moveTo>
                  <a:pt x="745627" y="0"/>
                </a:moveTo>
                <a:cubicBezTo>
                  <a:pt x="1157425" y="0"/>
                  <a:pt x="1491254" y="333829"/>
                  <a:pt x="1491254" y="745627"/>
                </a:cubicBezTo>
                <a:cubicBezTo>
                  <a:pt x="1491254" y="1157425"/>
                  <a:pt x="1157425" y="1491254"/>
                  <a:pt x="745627" y="1491254"/>
                </a:cubicBezTo>
                <a:cubicBezTo>
                  <a:pt x="333829" y="1491254"/>
                  <a:pt x="0" y="1157425"/>
                  <a:pt x="0" y="745627"/>
                </a:cubicBezTo>
                <a:cubicBezTo>
                  <a:pt x="0" y="333829"/>
                  <a:pt x="333829" y="0"/>
                  <a:pt x="745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249139" y="3953598"/>
            <a:ext cx="1491254" cy="1491254"/>
          </a:xfrm>
          <a:custGeom>
            <a:avLst/>
            <a:gdLst>
              <a:gd name="connsiteX0" fmla="*/ 745627 w 1491254"/>
              <a:gd name="connsiteY0" fmla="*/ 0 h 1491254"/>
              <a:gd name="connsiteX1" fmla="*/ 1491254 w 1491254"/>
              <a:gd name="connsiteY1" fmla="*/ 745627 h 1491254"/>
              <a:gd name="connsiteX2" fmla="*/ 745627 w 1491254"/>
              <a:gd name="connsiteY2" fmla="*/ 1491254 h 1491254"/>
              <a:gd name="connsiteX3" fmla="*/ 0 w 1491254"/>
              <a:gd name="connsiteY3" fmla="*/ 745627 h 1491254"/>
              <a:gd name="connsiteX4" fmla="*/ 745627 w 1491254"/>
              <a:gd name="connsiteY4" fmla="*/ 0 h 149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1254" h="1491254">
                <a:moveTo>
                  <a:pt x="745627" y="0"/>
                </a:moveTo>
                <a:cubicBezTo>
                  <a:pt x="1157425" y="0"/>
                  <a:pt x="1491254" y="333829"/>
                  <a:pt x="1491254" y="745627"/>
                </a:cubicBezTo>
                <a:cubicBezTo>
                  <a:pt x="1491254" y="1157425"/>
                  <a:pt x="1157425" y="1491254"/>
                  <a:pt x="745627" y="1491254"/>
                </a:cubicBezTo>
                <a:cubicBezTo>
                  <a:pt x="333829" y="1491254"/>
                  <a:pt x="0" y="1157425"/>
                  <a:pt x="0" y="745627"/>
                </a:cubicBezTo>
                <a:cubicBezTo>
                  <a:pt x="0" y="333829"/>
                  <a:pt x="333829" y="0"/>
                  <a:pt x="7456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72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13473" y="2221007"/>
            <a:ext cx="2769660" cy="1512000"/>
          </a:xfrm>
          <a:custGeom>
            <a:avLst/>
            <a:gdLst>
              <a:gd name="connsiteX0" fmla="*/ 0 w 2769660"/>
              <a:gd name="connsiteY0" fmla="*/ 0 h 1512000"/>
              <a:gd name="connsiteX1" fmla="*/ 2769660 w 2769660"/>
              <a:gd name="connsiteY1" fmla="*/ 0 h 1512000"/>
              <a:gd name="connsiteX2" fmla="*/ 2769660 w 2769660"/>
              <a:gd name="connsiteY2" fmla="*/ 1512000 h 1512000"/>
              <a:gd name="connsiteX3" fmla="*/ 0 w 2769660"/>
              <a:gd name="connsiteY3" fmla="*/ 1512000 h 15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9660" h="1512000">
                <a:moveTo>
                  <a:pt x="0" y="0"/>
                </a:moveTo>
                <a:lnTo>
                  <a:pt x="2769660" y="0"/>
                </a:lnTo>
                <a:lnTo>
                  <a:pt x="2769660" y="1512000"/>
                </a:lnTo>
                <a:lnTo>
                  <a:pt x="0" y="151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713482" y="2221007"/>
            <a:ext cx="2769660" cy="1512000"/>
          </a:xfrm>
          <a:custGeom>
            <a:avLst/>
            <a:gdLst>
              <a:gd name="connsiteX0" fmla="*/ 0 w 2769660"/>
              <a:gd name="connsiteY0" fmla="*/ 0 h 1512000"/>
              <a:gd name="connsiteX1" fmla="*/ 2769660 w 2769660"/>
              <a:gd name="connsiteY1" fmla="*/ 0 h 1512000"/>
              <a:gd name="connsiteX2" fmla="*/ 2769660 w 2769660"/>
              <a:gd name="connsiteY2" fmla="*/ 1512000 h 1512000"/>
              <a:gd name="connsiteX3" fmla="*/ 0 w 2769660"/>
              <a:gd name="connsiteY3" fmla="*/ 1512000 h 15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9660" h="1512000">
                <a:moveTo>
                  <a:pt x="0" y="0"/>
                </a:moveTo>
                <a:lnTo>
                  <a:pt x="2769660" y="0"/>
                </a:lnTo>
                <a:lnTo>
                  <a:pt x="2769660" y="1512000"/>
                </a:lnTo>
                <a:lnTo>
                  <a:pt x="0" y="151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113491" y="2221007"/>
            <a:ext cx="2769660" cy="1512000"/>
          </a:xfrm>
          <a:custGeom>
            <a:avLst/>
            <a:gdLst>
              <a:gd name="connsiteX0" fmla="*/ 0 w 2769660"/>
              <a:gd name="connsiteY0" fmla="*/ 0 h 1512000"/>
              <a:gd name="connsiteX1" fmla="*/ 2769660 w 2769660"/>
              <a:gd name="connsiteY1" fmla="*/ 0 h 1512000"/>
              <a:gd name="connsiteX2" fmla="*/ 2769660 w 2769660"/>
              <a:gd name="connsiteY2" fmla="*/ 1512000 h 1512000"/>
              <a:gd name="connsiteX3" fmla="*/ 0 w 2769660"/>
              <a:gd name="connsiteY3" fmla="*/ 1512000 h 15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9660" h="1512000">
                <a:moveTo>
                  <a:pt x="0" y="0"/>
                </a:moveTo>
                <a:lnTo>
                  <a:pt x="2769660" y="0"/>
                </a:lnTo>
                <a:lnTo>
                  <a:pt x="2769660" y="1512000"/>
                </a:lnTo>
                <a:lnTo>
                  <a:pt x="0" y="151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53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013325" y="2719388"/>
            <a:ext cx="2155826" cy="2154238"/>
          </a:xfrm>
          <a:custGeom>
            <a:avLst/>
            <a:gdLst>
              <a:gd name="connsiteX0" fmla="*/ 1077913 w 2155826"/>
              <a:gd name="connsiteY0" fmla="*/ 0 h 2154238"/>
              <a:gd name="connsiteX1" fmla="*/ 2155826 w 2155826"/>
              <a:gd name="connsiteY1" fmla="*/ 1077119 h 2154238"/>
              <a:gd name="connsiteX2" fmla="*/ 1077913 w 2155826"/>
              <a:gd name="connsiteY2" fmla="*/ 2154238 h 2154238"/>
              <a:gd name="connsiteX3" fmla="*/ 0 w 2155826"/>
              <a:gd name="connsiteY3" fmla="*/ 1077119 h 2154238"/>
              <a:gd name="connsiteX4" fmla="*/ 1077913 w 2155826"/>
              <a:gd name="connsiteY4" fmla="*/ 0 h 21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5826" h="2154238">
                <a:moveTo>
                  <a:pt x="1077913" y="0"/>
                </a:moveTo>
                <a:cubicBezTo>
                  <a:pt x="1673228" y="0"/>
                  <a:pt x="2155826" y="482243"/>
                  <a:pt x="2155826" y="1077119"/>
                </a:cubicBezTo>
                <a:cubicBezTo>
                  <a:pt x="2155826" y="1671995"/>
                  <a:pt x="1673228" y="2154238"/>
                  <a:pt x="1077913" y="2154238"/>
                </a:cubicBezTo>
                <a:cubicBezTo>
                  <a:pt x="482598" y="2154238"/>
                  <a:pt x="0" y="1671995"/>
                  <a:pt x="0" y="1077119"/>
                </a:cubicBezTo>
                <a:cubicBezTo>
                  <a:pt x="0" y="482243"/>
                  <a:pt x="482598" y="0"/>
                  <a:pt x="10779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49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27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1" r:id="rId4"/>
    <p:sldLayoutId id="2147483670" r:id="rId5"/>
    <p:sldLayoutId id="2147483669" r:id="rId6"/>
    <p:sldLayoutId id="2147483668" r:id="rId7"/>
    <p:sldLayoutId id="2147483667" r:id="rId8"/>
    <p:sldLayoutId id="2147483666" r:id="rId9"/>
    <p:sldLayoutId id="2147483665" r:id="rId10"/>
    <p:sldLayoutId id="2147483664" r:id="rId11"/>
  </p:sldLayoutIdLst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3178718" y="6150114"/>
            <a:ext cx="5431809" cy="707886"/>
          </a:xfrm>
          <a:prstGeom prst="rect">
            <a:avLst/>
          </a:prstGeom>
          <a:noFill/>
        </p:spPr>
        <p:txBody>
          <a:bodyPr wrap="square" lIns="89979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TW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1311332013</a:t>
            </a:r>
            <a:r>
              <a:rPr lang="zh-TW" altLang="en-US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盧昀彤</a:t>
            </a:r>
            <a:r>
              <a:rPr lang="en-US" altLang="zh-TW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  <a:r>
              <a:rPr lang="zh-TW" altLang="en-US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</a:t>
            </a:r>
            <a:r>
              <a:rPr lang="en-US" altLang="zh-TW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1311332015</a:t>
            </a:r>
            <a:r>
              <a:rPr lang="zh-TW" altLang="en-US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沈玉璇</a:t>
            </a:r>
            <a:r>
              <a:rPr lang="en-US" altLang="zh-TW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1311332038</a:t>
            </a:r>
            <a:r>
              <a:rPr lang="zh-TW" altLang="en-US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黃暐喆 </a:t>
            </a:r>
            <a:r>
              <a:rPr lang="zh-TW" altLang="en-US" sz="2000" dirty="0">
                <a:solidFill>
                  <a:srgbClr val="FEFFFF"/>
                </a:solidFill>
              </a:rPr>
              <a:t>        </a:t>
            </a:r>
            <a:r>
              <a:rPr lang="en-US" altLang="zh-TW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1311332061</a:t>
            </a:r>
            <a:r>
              <a:rPr lang="zh-TW" altLang="en-US" sz="2000" dirty="0">
                <a:solidFill>
                  <a:srgbClr val="FE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金本立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726971" y="3520948"/>
            <a:ext cx="3167652" cy="172780"/>
            <a:chOff x="2726971" y="3520948"/>
            <a:chExt cx="3167652" cy="172780"/>
          </a:xfrm>
        </p:grpSpPr>
        <p:sp>
          <p:nvSpPr>
            <p:cNvPr id="9" name="PA_矩形 6"/>
            <p:cNvSpPr/>
            <p:nvPr>
              <p:custDataLst>
                <p:tags r:id="rId1"/>
              </p:custDataLst>
            </p:nvPr>
          </p:nvSpPr>
          <p:spPr>
            <a:xfrm rot="2700000">
              <a:off x="4245793" y="3520948"/>
              <a:ext cx="172780" cy="1727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PA_直接连接符 8"/>
            <p:cNvCxnSpPr/>
            <p:nvPr>
              <p:custDataLst>
                <p:tags r:id="rId2"/>
              </p:custDataLst>
            </p:nvPr>
          </p:nvCxnSpPr>
          <p:spPr>
            <a:xfrm flipH="1">
              <a:off x="2726971" y="3607338"/>
              <a:ext cx="1367849" cy="0"/>
            </a:xfrm>
            <a:prstGeom prst="line">
              <a:avLst/>
            </a:prstGeom>
            <a:solidFill>
              <a:schemeClr val="bg1"/>
            </a:soli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PA_直接连接符 9"/>
            <p:cNvCxnSpPr/>
            <p:nvPr>
              <p:custDataLst>
                <p:tags r:id="rId3"/>
              </p:custDataLst>
            </p:nvPr>
          </p:nvCxnSpPr>
          <p:spPr>
            <a:xfrm flipH="1">
              <a:off x="4584367" y="3607338"/>
              <a:ext cx="1310256" cy="0"/>
            </a:xfrm>
            <a:prstGeom prst="line">
              <a:avLst/>
            </a:prstGeom>
            <a:solidFill>
              <a:schemeClr val="bg1"/>
            </a:solidFill>
            <a:ln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408245" y="1853012"/>
            <a:ext cx="737315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defRPr/>
            </a:pPr>
            <a:r>
              <a:rPr lang="zh-TW" altLang="en-US" sz="5400" dirty="0">
                <a:solidFill>
                  <a:srgbClr val="FEFFFF"/>
                </a:solidFill>
              </a:rPr>
              <a:t>網路爬蟲與資料分析</a:t>
            </a:r>
            <a:br>
              <a:rPr lang="en-US" altLang="zh-TW" sz="5400" dirty="0">
                <a:solidFill>
                  <a:srgbClr val="FEFFFF"/>
                </a:solidFill>
              </a:rPr>
            </a:br>
            <a:r>
              <a:rPr lang="zh-TW" altLang="en-US" sz="5400" dirty="0">
                <a:solidFill>
                  <a:srgbClr val="FEFFFF"/>
                </a:solidFill>
              </a:rPr>
              <a:t>購物網站    價格比較</a:t>
            </a:r>
            <a:endParaRPr kumimoji="0" lang="zh-CN" altLang="en-US" sz="54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88900" dist="50800" dir="2700000" algn="tl" rotWithShape="0">
                  <a:prstClr val="black">
                    <a:alpha val="65000"/>
                  </a:prstClr>
                </a:outerShdw>
              </a:effectLst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407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3742" y="107983"/>
            <a:ext cx="4031873" cy="86177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defRPr/>
            </a:pPr>
            <a:r>
              <a:rPr lang="zh-TW" altLang="en-US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專題製作動機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7080" y="2003189"/>
            <a:ext cx="10366513" cy="163160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14000"/>
              </a:lnSpc>
              <a:defRPr/>
            </a:pPr>
            <a:r>
              <a:rPr lang="zh-TW" altLang="en-US" sz="3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    日常網路購物時，大部分人都會觀望各大購物網站，看哪家價格相對划算，但一間一間瀏覽相當耗時間，製作一個比價系統就可以快速找到最划算的產品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6980F6-9DE7-4ADA-928F-A34F2E01238F}"/>
              </a:ext>
            </a:extLst>
          </p:cNvPr>
          <p:cNvSpPr/>
          <p:nvPr/>
        </p:nvSpPr>
        <p:spPr>
          <a:xfrm>
            <a:off x="6977271" y="3840038"/>
            <a:ext cx="4458234" cy="2276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4" descr="result image">
            <a:extLst>
              <a:ext uri="{FF2B5EF4-FFF2-40B4-BE49-F238E27FC236}">
                <a16:creationId xmlns:a16="http://schemas.microsoft.com/office/drawing/2014/main" id="{D95403D3-34EC-4D5D-91F8-557487A7A7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 t="19820" r="4862"/>
          <a:stretch/>
        </p:blipFill>
        <p:spPr bwMode="auto">
          <a:xfrm>
            <a:off x="6908257" y="3774923"/>
            <a:ext cx="4458234" cy="22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0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96912" y="1747654"/>
            <a:ext cx="7136906" cy="5484124"/>
            <a:chOff x="4498975" y="4508500"/>
            <a:chExt cx="3238500" cy="2520950"/>
          </a:xfrm>
        </p:grpSpPr>
        <p:sp>
          <p:nvSpPr>
            <p:cNvPr id="13321" name="任意多边形 31"/>
            <p:cNvSpPr>
              <a:spLocks noChangeArrowheads="1"/>
            </p:cNvSpPr>
            <p:nvPr/>
          </p:nvSpPr>
          <p:spPr bwMode="auto">
            <a:xfrm rot="18300000" flipH="1">
              <a:off x="4900612" y="4522788"/>
              <a:ext cx="2028825" cy="2000250"/>
            </a:xfrm>
            <a:custGeom>
              <a:avLst/>
              <a:gdLst>
                <a:gd name="T0" fmla="*/ 0 w 2028813"/>
                <a:gd name="T1" fmla="*/ 618210 h 1999955"/>
                <a:gd name="T2" fmla="*/ 961763 w 2028813"/>
                <a:gd name="T3" fmla="*/ 1291739 h 1999955"/>
                <a:gd name="T4" fmla="*/ 88910 w 2028813"/>
                <a:gd name="T5" fmla="*/ 1609476 h 1999955"/>
                <a:gd name="T6" fmla="*/ 92597 w 2028813"/>
                <a:gd name="T7" fmla="*/ 1616869 h 1999955"/>
                <a:gd name="T8" fmla="*/ 119306 w 2028813"/>
                <a:gd name="T9" fmla="*/ 1713359 h 1999955"/>
                <a:gd name="T10" fmla="*/ 1069762 w 2028813"/>
                <a:gd name="T11" fmla="*/ 1367372 h 1999955"/>
                <a:gd name="T12" fmla="*/ 1649079 w 2028813"/>
                <a:gd name="T13" fmla="*/ 1773071 h 1999955"/>
                <a:gd name="T14" fmla="*/ 1299183 w 2028813"/>
                <a:gd name="T15" fmla="*/ 1900441 h 1999955"/>
                <a:gd name="T16" fmla="*/ 1330562 w 2028813"/>
                <a:gd name="T17" fmla="*/ 1963365 h 1999955"/>
                <a:gd name="T18" fmla="*/ 1340772 w 2028813"/>
                <a:gd name="T19" fmla="*/ 2000250 h 1999955"/>
                <a:gd name="T20" fmla="*/ 1757079 w 2028813"/>
                <a:gd name="T21" fmla="*/ 1848705 h 1999955"/>
                <a:gd name="T22" fmla="*/ 1953166 w 2028813"/>
                <a:gd name="T23" fmla="*/ 1986025 h 1999955"/>
                <a:gd name="T24" fmla="*/ 2028825 w 2028813"/>
                <a:gd name="T25" fmla="*/ 1877957 h 1999955"/>
                <a:gd name="T26" fmla="*/ 1800399 w 2028813"/>
                <a:gd name="T27" fmla="*/ 1717988 h 1999955"/>
                <a:gd name="T28" fmla="*/ 1800398 w 2028813"/>
                <a:gd name="T29" fmla="*/ 1717988 h 1999955"/>
                <a:gd name="T30" fmla="*/ 1532805 w 2028813"/>
                <a:gd name="T31" fmla="*/ 1530592 h 1999955"/>
                <a:gd name="T32" fmla="*/ 1532805 w 2028813"/>
                <a:gd name="T33" fmla="*/ 1073755 h 1999955"/>
                <a:gd name="T34" fmla="*/ 1527162 w 2028813"/>
                <a:gd name="T35" fmla="*/ 1073111 h 1999955"/>
                <a:gd name="T36" fmla="*/ 1424805 w 2028813"/>
                <a:gd name="T37" fmla="*/ 1040332 h 1999955"/>
                <a:gd name="T38" fmla="*/ 1424805 w 2028813"/>
                <a:gd name="T39" fmla="*/ 1454959 h 1999955"/>
                <a:gd name="T40" fmla="*/ 786170 w 2028813"/>
                <a:gd name="T41" fmla="*/ 1007718 h 1999955"/>
                <a:gd name="T42" fmla="*/ 786170 w 2028813"/>
                <a:gd name="T43" fmla="*/ 13933 h 1999955"/>
                <a:gd name="T44" fmla="*/ 685989 w 2028813"/>
                <a:gd name="T45" fmla="*/ 2503 h 1999955"/>
                <a:gd name="T46" fmla="*/ 678169 w 2028813"/>
                <a:gd name="T47" fmla="*/ 0 h 1999955"/>
                <a:gd name="T48" fmla="*/ 678169 w 2028813"/>
                <a:gd name="T49" fmla="*/ 932084 h 1999955"/>
                <a:gd name="T50" fmla="*/ 75659 w 2028813"/>
                <a:gd name="T51" fmla="*/ 510143 h 199995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028813"/>
                <a:gd name="T79" fmla="*/ 0 h 1999955"/>
                <a:gd name="T80" fmla="*/ 2028813 w 2028813"/>
                <a:gd name="T81" fmla="*/ 1999955 h 199995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028813" h="1999955">
                  <a:moveTo>
                    <a:pt x="0" y="618119"/>
                  </a:moveTo>
                  <a:lnTo>
                    <a:pt x="961757" y="1291548"/>
                  </a:lnTo>
                  <a:lnTo>
                    <a:pt x="88909" y="1609239"/>
                  </a:lnTo>
                  <a:lnTo>
                    <a:pt x="92596" y="1616631"/>
                  </a:lnTo>
                  <a:lnTo>
                    <a:pt x="119305" y="1713106"/>
                  </a:lnTo>
                  <a:lnTo>
                    <a:pt x="1069756" y="1367170"/>
                  </a:lnTo>
                  <a:lnTo>
                    <a:pt x="1649069" y="1772810"/>
                  </a:lnTo>
                  <a:lnTo>
                    <a:pt x="1299175" y="1900161"/>
                  </a:lnTo>
                  <a:lnTo>
                    <a:pt x="1330554" y="1963075"/>
                  </a:lnTo>
                  <a:lnTo>
                    <a:pt x="1340764" y="1999955"/>
                  </a:lnTo>
                  <a:lnTo>
                    <a:pt x="1757069" y="1848432"/>
                  </a:lnTo>
                  <a:lnTo>
                    <a:pt x="1953154" y="1985732"/>
                  </a:lnTo>
                  <a:lnTo>
                    <a:pt x="2028813" y="1877680"/>
                  </a:lnTo>
                  <a:lnTo>
                    <a:pt x="1800388" y="1717735"/>
                  </a:lnTo>
                  <a:lnTo>
                    <a:pt x="1800387" y="1717735"/>
                  </a:lnTo>
                  <a:lnTo>
                    <a:pt x="1532796" y="1530366"/>
                  </a:lnTo>
                  <a:lnTo>
                    <a:pt x="1532796" y="1073597"/>
                  </a:lnTo>
                  <a:lnTo>
                    <a:pt x="1527153" y="1072953"/>
                  </a:lnTo>
                  <a:lnTo>
                    <a:pt x="1424797" y="1040179"/>
                  </a:lnTo>
                  <a:lnTo>
                    <a:pt x="1424797" y="1454744"/>
                  </a:lnTo>
                  <a:lnTo>
                    <a:pt x="786165" y="1007569"/>
                  </a:lnTo>
                  <a:lnTo>
                    <a:pt x="786165" y="13931"/>
                  </a:lnTo>
                  <a:lnTo>
                    <a:pt x="685985" y="2503"/>
                  </a:lnTo>
                  <a:lnTo>
                    <a:pt x="678165" y="0"/>
                  </a:lnTo>
                  <a:lnTo>
                    <a:pt x="678165" y="931947"/>
                  </a:lnTo>
                  <a:lnTo>
                    <a:pt x="75659" y="510068"/>
                  </a:lnTo>
                  <a:lnTo>
                    <a:pt x="0" y="6181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  <p:pic>
          <p:nvPicPr>
            <p:cNvPr id="13323" name="图片 14"/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775"/>
            <a:stretch>
              <a:fillRect/>
            </a:stretch>
          </p:blipFill>
          <p:spPr bwMode="auto">
            <a:xfrm>
              <a:off x="4498975" y="6850063"/>
              <a:ext cx="3238500" cy="179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组合 20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213764" y="147945"/>
            <a:ext cx="230746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使用套件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213764" y="1331913"/>
            <a:ext cx="3793677" cy="1341457"/>
            <a:chOff x="804492" y="3325188"/>
            <a:chExt cx="3351583" cy="881137"/>
          </a:xfrm>
        </p:grpSpPr>
        <p:sp>
          <p:nvSpPr>
            <p:cNvPr id="37" name="矩形 36"/>
            <p:cNvSpPr/>
            <p:nvPr/>
          </p:nvSpPr>
          <p:spPr>
            <a:xfrm>
              <a:off x="804492" y="3680869"/>
              <a:ext cx="3281362" cy="52545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用於發送 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HTTP 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請求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並解析 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HTML 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網頁資料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74713" y="3325188"/>
              <a:ext cx="3281362" cy="32636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requests</a:t>
              </a:r>
              <a:r>
                <a:rPr kumimoji="0" lang="zh-TW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&amp;</a:t>
              </a:r>
              <a:r>
                <a:rPr kumimoji="0" lang="zh-TW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BeautifulSoup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292087" y="3558461"/>
            <a:ext cx="3597965" cy="1893547"/>
            <a:chOff x="874713" y="3325188"/>
            <a:chExt cx="3281362" cy="1813616"/>
          </a:xfrm>
        </p:grpSpPr>
        <p:sp>
          <p:nvSpPr>
            <p:cNvPr id="40" name="矩形 39"/>
            <p:cNvSpPr/>
            <p:nvPr/>
          </p:nvSpPr>
          <p:spPr>
            <a:xfrm>
              <a:off x="874713" y="3969510"/>
              <a:ext cx="3281362" cy="11692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用於儲存處理後的商品資料，輕量級的本地資料庫解決方案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74713" y="3325188"/>
              <a:ext cx="2241974" cy="57446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sqlite3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179002" y="1540542"/>
            <a:ext cx="3281362" cy="1784025"/>
            <a:chOff x="874713" y="3325188"/>
            <a:chExt cx="3281362" cy="1784025"/>
          </a:xfrm>
        </p:grpSpPr>
        <p:sp>
          <p:nvSpPr>
            <p:cNvPr id="43" name="矩形 42"/>
            <p:cNvSpPr/>
            <p:nvPr/>
          </p:nvSpPr>
          <p:spPr>
            <a:xfrm>
              <a:off x="874713" y="3939919"/>
              <a:ext cx="3281362" cy="11692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用來處理需要 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JavaScript 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渲染的網頁，支持動態內容的爬取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914101" y="3325188"/>
              <a:ext cx="2241974" cy="5997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selenium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081557" y="4106203"/>
            <a:ext cx="4273666" cy="2529853"/>
            <a:chOff x="874713" y="2942483"/>
            <a:chExt cx="3281362" cy="3381951"/>
          </a:xfrm>
        </p:grpSpPr>
        <p:sp>
          <p:nvSpPr>
            <p:cNvPr id="46" name="矩形 45"/>
            <p:cNvSpPr/>
            <p:nvPr/>
          </p:nvSpPr>
          <p:spPr>
            <a:xfrm>
              <a:off x="874713" y="3677812"/>
              <a:ext cx="3281362" cy="264662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用來記錄程式執行過程中的日誌，包括爬取成功、失敗、警告或錯誤等資訊。透過不同的日誌等級（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INFO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、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WARNING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、</a:t>
              </a: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ERROR</a:t>
              </a: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）來區分訊息的重要性，方便後續的錯誤排查與監控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856085" y="2942483"/>
              <a:ext cx="2241974" cy="59798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+mn-lt"/>
                </a:rPr>
                <a:t>logging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7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205701" y="79514"/>
            <a:ext cx="35433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爬取來源網站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913" y="1746250"/>
            <a:ext cx="2522537" cy="4306888"/>
            <a:chOff x="1077913" y="1746250"/>
            <a:chExt cx="2522537" cy="4306888"/>
          </a:xfrm>
        </p:grpSpPr>
        <p:sp>
          <p:nvSpPr>
            <p:cNvPr id="23557" name="矩形 8"/>
            <p:cNvSpPr>
              <a:spLocks noChangeArrowheads="1"/>
            </p:cNvSpPr>
            <p:nvPr/>
          </p:nvSpPr>
          <p:spPr bwMode="auto">
            <a:xfrm>
              <a:off x="1077913" y="1746250"/>
              <a:ext cx="2522537" cy="1530350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0" name="任意多边形 11"/>
            <p:cNvSpPr>
              <a:spLocks noChangeArrowheads="1"/>
            </p:cNvSpPr>
            <p:nvPr/>
          </p:nvSpPr>
          <p:spPr bwMode="auto">
            <a:xfrm>
              <a:off x="1089025" y="3276600"/>
              <a:ext cx="2509838" cy="252413"/>
            </a:xfrm>
            <a:custGeom>
              <a:avLst/>
              <a:gdLst>
                <a:gd name="T0" fmla="*/ 0 w 2510282"/>
                <a:gd name="T1" fmla="*/ 0 h 252000"/>
                <a:gd name="T2" fmla="*/ 2509838 w 2510282"/>
                <a:gd name="T3" fmla="*/ 0 h 252000"/>
                <a:gd name="T4" fmla="*/ 2363743 w 2510282"/>
                <a:gd name="T5" fmla="*/ 252413 h 252000"/>
                <a:gd name="T6" fmla="*/ 146095 w 2510282"/>
                <a:gd name="T7" fmla="*/ 252413 h 252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10282"/>
                <a:gd name="T13" fmla="*/ 0 h 252000"/>
                <a:gd name="T14" fmla="*/ 2510282 w 2510282"/>
                <a:gd name="T15" fmla="*/ 252000 h 252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10282" h="252000">
                  <a:moveTo>
                    <a:pt x="0" y="0"/>
                  </a:moveTo>
                  <a:lnTo>
                    <a:pt x="2510282" y="0"/>
                  </a:lnTo>
                  <a:lnTo>
                    <a:pt x="2364161" y="252000"/>
                  </a:lnTo>
                  <a:lnTo>
                    <a:pt x="146121" y="25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61" name="矩形 12"/>
            <p:cNvSpPr>
              <a:spLocks noChangeArrowheads="1"/>
            </p:cNvSpPr>
            <p:nvPr/>
          </p:nvSpPr>
          <p:spPr bwMode="auto">
            <a:xfrm>
              <a:off x="1225550" y="3529013"/>
              <a:ext cx="2219325" cy="2524125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6" name="文本框 17"/>
            <p:cNvSpPr>
              <a:spLocks noChangeArrowheads="1"/>
            </p:cNvSpPr>
            <p:nvPr/>
          </p:nvSpPr>
          <p:spPr bwMode="auto">
            <a:xfrm>
              <a:off x="1181425" y="2191980"/>
              <a:ext cx="223651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TW" sz="4000" b="1" dirty="0" err="1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momo</a:t>
              </a:r>
              <a:r>
                <a:rPr lang="zh-TW" altLang="en-US" sz="40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購物</a:t>
              </a:r>
              <a:endParaRPr lang="zh-CN" altLang="en-US" sz="40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845050" y="1746250"/>
            <a:ext cx="2524125" cy="4306888"/>
            <a:chOff x="4845050" y="1746250"/>
            <a:chExt cx="2524125" cy="4306888"/>
          </a:xfrm>
        </p:grpSpPr>
        <p:sp>
          <p:nvSpPr>
            <p:cNvPr id="23558" name="矩形 9"/>
            <p:cNvSpPr>
              <a:spLocks noChangeArrowheads="1"/>
            </p:cNvSpPr>
            <p:nvPr/>
          </p:nvSpPr>
          <p:spPr bwMode="auto">
            <a:xfrm>
              <a:off x="4845050" y="1746250"/>
              <a:ext cx="2524125" cy="1530350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2" name="任意多边形 13"/>
            <p:cNvSpPr>
              <a:spLocks noChangeArrowheads="1"/>
            </p:cNvSpPr>
            <p:nvPr/>
          </p:nvSpPr>
          <p:spPr bwMode="auto">
            <a:xfrm>
              <a:off x="4851400" y="3276600"/>
              <a:ext cx="2509838" cy="252413"/>
            </a:xfrm>
            <a:custGeom>
              <a:avLst/>
              <a:gdLst>
                <a:gd name="T0" fmla="*/ 0 w 2510282"/>
                <a:gd name="T1" fmla="*/ 0 h 252000"/>
                <a:gd name="T2" fmla="*/ 2509838 w 2510282"/>
                <a:gd name="T3" fmla="*/ 0 h 252000"/>
                <a:gd name="T4" fmla="*/ 2363743 w 2510282"/>
                <a:gd name="T5" fmla="*/ 252413 h 252000"/>
                <a:gd name="T6" fmla="*/ 146095 w 2510282"/>
                <a:gd name="T7" fmla="*/ 252413 h 252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10282"/>
                <a:gd name="T13" fmla="*/ 0 h 252000"/>
                <a:gd name="T14" fmla="*/ 2510282 w 2510282"/>
                <a:gd name="T15" fmla="*/ 252000 h 252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10282" h="252000">
                  <a:moveTo>
                    <a:pt x="0" y="0"/>
                  </a:moveTo>
                  <a:lnTo>
                    <a:pt x="2510282" y="0"/>
                  </a:lnTo>
                  <a:lnTo>
                    <a:pt x="2364161" y="252000"/>
                  </a:lnTo>
                  <a:lnTo>
                    <a:pt x="146121" y="25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63" name="矩形 14"/>
            <p:cNvSpPr>
              <a:spLocks noChangeArrowheads="1"/>
            </p:cNvSpPr>
            <p:nvPr/>
          </p:nvSpPr>
          <p:spPr bwMode="auto">
            <a:xfrm>
              <a:off x="4986338" y="3529013"/>
              <a:ext cx="2220912" cy="2524125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7" name="文本框 18"/>
            <p:cNvSpPr>
              <a:spLocks noChangeArrowheads="1"/>
            </p:cNvSpPr>
            <p:nvPr/>
          </p:nvSpPr>
          <p:spPr bwMode="auto">
            <a:xfrm>
              <a:off x="5136786" y="2157482"/>
              <a:ext cx="1938722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b="1" dirty="0" err="1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PChome</a:t>
              </a:r>
              <a:endParaRPr lang="zh-CN" altLang="en-US" sz="40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613775" y="1746250"/>
            <a:ext cx="2522538" cy="4306888"/>
            <a:chOff x="8613775" y="1746250"/>
            <a:chExt cx="2522538" cy="4306888"/>
          </a:xfrm>
        </p:grpSpPr>
        <p:sp>
          <p:nvSpPr>
            <p:cNvPr id="23559" name="矩形 10"/>
            <p:cNvSpPr>
              <a:spLocks noChangeArrowheads="1"/>
            </p:cNvSpPr>
            <p:nvPr/>
          </p:nvSpPr>
          <p:spPr bwMode="auto">
            <a:xfrm>
              <a:off x="8613775" y="1746250"/>
              <a:ext cx="2522538" cy="1530350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4" name="任意多边形 15"/>
            <p:cNvSpPr>
              <a:spLocks noChangeArrowheads="1"/>
            </p:cNvSpPr>
            <p:nvPr/>
          </p:nvSpPr>
          <p:spPr bwMode="auto">
            <a:xfrm>
              <a:off x="8613775" y="3276600"/>
              <a:ext cx="2509838" cy="252413"/>
            </a:xfrm>
            <a:custGeom>
              <a:avLst/>
              <a:gdLst>
                <a:gd name="T0" fmla="*/ 0 w 2510282"/>
                <a:gd name="T1" fmla="*/ 0 h 252000"/>
                <a:gd name="T2" fmla="*/ 2509838 w 2510282"/>
                <a:gd name="T3" fmla="*/ 0 h 252000"/>
                <a:gd name="T4" fmla="*/ 2363743 w 2510282"/>
                <a:gd name="T5" fmla="*/ 252413 h 252000"/>
                <a:gd name="T6" fmla="*/ 146095 w 2510282"/>
                <a:gd name="T7" fmla="*/ 252413 h 252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10282"/>
                <a:gd name="T13" fmla="*/ 0 h 252000"/>
                <a:gd name="T14" fmla="*/ 2510282 w 2510282"/>
                <a:gd name="T15" fmla="*/ 252000 h 252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10282" h="252000">
                  <a:moveTo>
                    <a:pt x="0" y="0"/>
                  </a:moveTo>
                  <a:lnTo>
                    <a:pt x="2510282" y="0"/>
                  </a:lnTo>
                  <a:lnTo>
                    <a:pt x="2364161" y="252000"/>
                  </a:lnTo>
                  <a:lnTo>
                    <a:pt x="146121" y="25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65" name="矩形 16"/>
            <p:cNvSpPr>
              <a:spLocks noChangeArrowheads="1"/>
            </p:cNvSpPr>
            <p:nvPr/>
          </p:nvSpPr>
          <p:spPr bwMode="auto">
            <a:xfrm>
              <a:off x="8748713" y="3529013"/>
              <a:ext cx="2220912" cy="2524125"/>
            </a:xfrm>
            <a:prstGeom prst="rect">
              <a:avLst/>
            </a:prstGeom>
            <a:solidFill>
              <a:srgbClr val="FFFFFF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568" name="文本框 19"/>
            <p:cNvSpPr>
              <a:spLocks noChangeArrowheads="1"/>
            </p:cNvSpPr>
            <p:nvPr/>
          </p:nvSpPr>
          <p:spPr bwMode="auto">
            <a:xfrm>
              <a:off x="8869154" y="1805324"/>
              <a:ext cx="198002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0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Coupang</a:t>
              </a:r>
            </a:p>
            <a:p>
              <a:pPr algn="ctr" eaLnBrk="1" hangingPunct="1"/>
              <a:r>
                <a:rPr lang="en-US" altLang="zh-CN" sz="40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(</a:t>
              </a:r>
              <a:r>
                <a:rPr lang="zh-TW" altLang="en-US" sz="40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酷澎</a:t>
              </a:r>
              <a:r>
                <a:rPr lang="en-US" altLang="zh-TW" sz="4000" b="1" dirty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)</a:t>
              </a:r>
              <a:endParaRPr lang="zh-CN" altLang="en-US" sz="40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</p:grpSp>
      <p:pic>
        <p:nvPicPr>
          <p:cNvPr id="42" name="圖片 41">
            <a:extLst>
              <a:ext uri="{FF2B5EF4-FFF2-40B4-BE49-F238E27FC236}">
                <a16:creationId xmlns:a16="http://schemas.microsoft.com/office/drawing/2014/main" id="{4BB7B3BF-AB53-4A01-88CE-47447429F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09" y="3722329"/>
            <a:ext cx="2573232" cy="226518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E53CA54-CA93-44B6-A4CE-A23C363AA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38" y="3781839"/>
            <a:ext cx="2216150" cy="21400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DE025C-2A3B-4581-A318-A143CAA869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1" y="3763693"/>
            <a:ext cx="2234405" cy="2234405"/>
          </a:xfrm>
          <a:prstGeom prst="rect">
            <a:avLst/>
          </a:prstGeom>
        </p:spPr>
      </p:pic>
      <p:sp>
        <p:nvSpPr>
          <p:cNvPr id="9" name="AutoShape 2" descr="圖示圖片">
            <a:extLst>
              <a:ext uri="{FF2B5EF4-FFF2-40B4-BE49-F238E27FC236}">
                <a16:creationId xmlns:a16="http://schemas.microsoft.com/office/drawing/2014/main" id="{A3538490-57F0-42FF-BC0E-7A284AA8C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43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428493" y="123483"/>
            <a:ext cx="35433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爬取辦法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5142" y="2006478"/>
            <a:ext cx="3006725" cy="4538099"/>
            <a:chOff x="1063625" y="2017713"/>
            <a:chExt cx="3006725" cy="2447619"/>
          </a:xfrm>
        </p:grpSpPr>
        <p:sp>
          <p:nvSpPr>
            <p:cNvPr id="10245" name="任意多边形 8"/>
            <p:cNvSpPr>
              <a:spLocks noChangeArrowheads="1"/>
            </p:cNvSpPr>
            <p:nvPr/>
          </p:nvSpPr>
          <p:spPr bwMode="auto">
            <a:xfrm>
              <a:off x="1063625" y="2017713"/>
              <a:ext cx="3006725" cy="2443162"/>
            </a:xfrm>
            <a:prstGeom prst="round2DiagRect">
              <a:avLst/>
            </a:pr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48" name="任意多边形 11"/>
            <p:cNvSpPr>
              <a:spLocks noChangeArrowheads="1"/>
            </p:cNvSpPr>
            <p:nvPr/>
          </p:nvSpPr>
          <p:spPr bwMode="auto">
            <a:xfrm>
              <a:off x="1250403" y="2022170"/>
              <a:ext cx="2640012" cy="2443162"/>
            </a:xfrm>
            <a:prstGeom prst="round2DiagRect">
              <a:avLst/>
            </a:pr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51" name="直接连接符 14"/>
            <p:cNvSpPr>
              <a:spLocks noChangeShapeType="1"/>
            </p:cNvSpPr>
            <p:nvPr/>
          </p:nvSpPr>
          <p:spPr bwMode="auto">
            <a:xfrm>
              <a:off x="1656555" y="2563264"/>
              <a:ext cx="1820863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238048" y="2778405"/>
              <a:ext cx="2646363" cy="128967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利用 </a:t>
              </a: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requests </a:t>
              </a: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發送 </a:t>
              </a: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API </a:t>
              </a: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請求，並解析回傳的 </a:t>
              </a: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JSON </a:t>
              </a: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資料。這種方法適用於 </a:t>
              </a:r>
              <a:r>
                <a:rPr kumimoji="0" lang="en-US" altLang="zh-TW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PChome</a:t>
              </a: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 </a:t>
              </a: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提供的 </a:t>
              </a: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API </a:t>
              </a:r>
              <a:r>
                <a:rPr kumimoji="0" lang="zh-TW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接口，可以直接獲取結構化的商品資訊，簡單且高效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95813" y="2017712"/>
            <a:ext cx="3006725" cy="4538099"/>
            <a:chOff x="4595813" y="2017713"/>
            <a:chExt cx="3006725" cy="2443162"/>
          </a:xfrm>
        </p:grpSpPr>
        <p:sp>
          <p:nvSpPr>
            <p:cNvPr id="10246" name="任意多边形 9"/>
            <p:cNvSpPr>
              <a:spLocks noChangeArrowheads="1"/>
            </p:cNvSpPr>
            <p:nvPr/>
          </p:nvSpPr>
          <p:spPr bwMode="auto">
            <a:xfrm>
              <a:off x="4595813" y="2017713"/>
              <a:ext cx="3006725" cy="2443162"/>
            </a:xfrm>
            <a:prstGeom prst="round2DiagRect">
              <a:avLst/>
            </a:pr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49" name="任意多边形 12"/>
            <p:cNvSpPr>
              <a:spLocks noChangeArrowheads="1"/>
            </p:cNvSpPr>
            <p:nvPr/>
          </p:nvSpPr>
          <p:spPr bwMode="auto">
            <a:xfrm>
              <a:off x="4773613" y="2017713"/>
              <a:ext cx="2640012" cy="2443162"/>
            </a:xfrm>
            <a:prstGeom prst="round2DiagRect">
              <a:avLst/>
            </a:pr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52" name="直接连接符 29"/>
            <p:cNvSpPr>
              <a:spLocks noChangeShapeType="1"/>
            </p:cNvSpPr>
            <p:nvPr/>
          </p:nvSpPr>
          <p:spPr bwMode="auto">
            <a:xfrm>
              <a:off x="5227638" y="2596416"/>
              <a:ext cx="1820862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5001815" y="3216610"/>
              <a:ext cx="2188369" cy="20894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128000" y="2017711"/>
            <a:ext cx="3006725" cy="4538097"/>
            <a:chOff x="8128000" y="2017713"/>
            <a:chExt cx="3006725" cy="2443162"/>
          </a:xfrm>
        </p:grpSpPr>
        <p:sp>
          <p:nvSpPr>
            <p:cNvPr id="10247" name="任意多边形 10"/>
            <p:cNvSpPr>
              <a:spLocks noChangeArrowheads="1"/>
            </p:cNvSpPr>
            <p:nvPr/>
          </p:nvSpPr>
          <p:spPr bwMode="auto">
            <a:xfrm>
              <a:off x="8128000" y="2017713"/>
              <a:ext cx="3006725" cy="2443162"/>
            </a:xfrm>
            <a:prstGeom prst="round2DiagRect">
              <a:avLst/>
            </a:pr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50" name="任意多边形 13"/>
            <p:cNvSpPr>
              <a:spLocks noChangeArrowheads="1"/>
            </p:cNvSpPr>
            <p:nvPr/>
          </p:nvSpPr>
          <p:spPr bwMode="auto">
            <a:xfrm>
              <a:off x="8320088" y="2017713"/>
              <a:ext cx="2640012" cy="2443162"/>
            </a:xfrm>
            <a:prstGeom prst="round2DiagRect">
              <a:avLst/>
            </a:pr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53" name="直接连接符 30"/>
            <p:cNvSpPr>
              <a:spLocks noChangeShapeType="1"/>
            </p:cNvSpPr>
            <p:nvPr/>
          </p:nvSpPr>
          <p:spPr bwMode="auto">
            <a:xfrm>
              <a:off x="8703274" y="2596417"/>
              <a:ext cx="1820862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8545482" y="3216610"/>
              <a:ext cx="2188369" cy="1768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4BEC503-9FB4-41D4-8CDD-1566CBA9286D}"/>
              </a:ext>
            </a:extLst>
          </p:cNvPr>
          <p:cNvSpPr txBox="1"/>
          <p:nvPr/>
        </p:nvSpPr>
        <p:spPr>
          <a:xfrm>
            <a:off x="1794326" y="2336573"/>
            <a:ext cx="1728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PChome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A296856-050D-4CF1-A5DD-A108C2201083}"/>
              </a:ext>
            </a:extLst>
          </p:cNvPr>
          <p:cNvSpPr txBox="1"/>
          <p:nvPr/>
        </p:nvSpPr>
        <p:spPr>
          <a:xfrm>
            <a:off x="4817856" y="3327415"/>
            <a:ext cx="25515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通過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selenium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模擬瀏覽器行為，獲取完整的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HTML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內容。由於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MOMO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網站的部分內容是通過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JavaScript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動態加載的，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selenium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可以自動執行瀏覽器腳本，捕獲動態生成的頁面並使用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BeautifulSoup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解析資料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BCA541C0-69B2-4DB2-96E0-539BDC3E0448}"/>
              </a:ext>
            </a:extLst>
          </p:cNvPr>
          <p:cNvSpPr txBox="1"/>
          <p:nvPr/>
        </p:nvSpPr>
        <p:spPr>
          <a:xfrm>
            <a:off x="5600254" y="2336574"/>
            <a:ext cx="1427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MOMO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4DB5653D-F7F2-450D-90A4-0F2271D7DCC1}"/>
              </a:ext>
            </a:extLst>
          </p:cNvPr>
          <p:cNvSpPr txBox="1"/>
          <p:nvPr/>
        </p:nvSpPr>
        <p:spPr>
          <a:xfrm>
            <a:off x="8307936" y="3364665"/>
            <a:ext cx="26115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同樣使用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selenium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來處理，因為酷彭的網站依賴動態載入的內容。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selenium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可以模擬瀏覽器行為並等待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JavaScript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渲染完成，然後抓取完整的頁面資料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89187975-631E-440B-9307-8FA393778FFE}"/>
              </a:ext>
            </a:extLst>
          </p:cNvPr>
          <p:cNvSpPr txBox="1"/>
          <p:nvPr/>
        </p:nvSpPr>
        <p:spPr>
          <a:xfrm>
            <a:off x="9093579" y="2339910"/>
            <a:ext cx="1040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酷澎</a:t>
            </a:r>
          </a:p>
        </p:txBody>
      </p:sp>
    </p:spTree>
    <p:extLst>
      <p:ext uri="{BB962C8B-B14F-4D97-AF65-F5344CB8AC3E}">
        <p14:creationId xmlns:p14="http://schemas.microsoft.com/office/powerpoint/2010/main" val="244118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2" grpId="0"/>
      <p:bldP spid="59" grpId="0"/>
      <p:bldP spid="63" grpId="0"/>
      <p:bldP spid="65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本框 49"/>
          <p:cNvSpPr txBox="1"/>
          <p:nvPr/>
        </p:nvSpPr>
        <p:spPr>
          <a:xfrm>
            <a:off x="25890" y="105886"/>
            <a:ext cx="231907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功能介紹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59" name="任意多边形 87">
            <a:extLst>
              <a:ext uri="{FF2B5EF4-FFF2-40B4-BE49-F238E27FC236}">
                <a16:creationId xmlns:a16="http://schemas.microsoft.com/office/drawing/2014/main" id="{71DCD52B-F98C-4FE9-9DFB-5F7785B5E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361" y="2218102"/>
            <a:ext cx="5062537" cy="1754321"/>
          </a:xfrm>
          <a:custGeom>
            <a:avLst/>
            <a:gdLst>
              <a:gd name="T0" fmla="*/ 4022725 w 4022818"/>
              <a:gd name="T1" fmla="*/ 1005576 h 1007038"/>
              <a:gd name="T2" fmla="*/ 4021905 w 4022818"/>
              <a:gd name="T3" fmla="*/ 1006475 h 1007038"/>
              <a:gd name="T4" fmla="*/ 4022725 w 4022818"/>
              <a:gd name="T5" fmla="*/ 1006475 h 1007038"/>
              <a:gd name="T6" fmla="*/ 503506 w 4022818"/>
              <a:gd name="T7" fmla="*/ 0 h 1007038"/>
              <a:gd name="T8" fmla="*/ 0 w 4022818"/>
              <a:gd name="T9" fmla="*/ 503237 h 1007038"/>
              <a:gd name="T10" fmla="*/ 503506 w 4022818"/>
              <a:gd name="T11" fmla="*/ 1006473 h 1007038"/>
              <a:gd name="T12" fmla="*/ 556085 w 4022818"/>
              <a:gd name="T13" fmla="*/ 1001176 h 1007038"/>
              <a:gd name="T14" fmla="*/ 556085 w 4022818"/>
              <a:gd name="T15" fmla="*/ 1006474 h 1007038"/>
              <a:gd name="T16" fmla="*/ 1879286 w 4022818"/>
              <a:gd name="T17" fmla="*/ 1006474 h 1007038"/>
              <a:gd name="T18" fmla="*/ 1931864 w 4022818"/>
              <a:gd name="T19" fmla="*/ 1006474 h 1007038"/>
              <a:gd name="T20" fmla="*/ 1931864 w 4022818"/>
              <a:gd name="T21" fmla="*/ 1006475 h 1007038"/>
              <a:gd name="T22" fmla="*/ 4021905 w 4022818"/>
              <a:gd name="T23" fmla="*/ 1006475 h 1007038"/>
              <a:gd name="T24" fmla="*/ 4005793 w 4022818"/>
              <a:gd name="T25" fmla="*/ 9054 h 1007038"/>
              <a:gd name="T26" fmla="*/ 4010787 w 4022818"/>
              <a:gd name="T27" fmla="*/ 3826 h 1007038"/>
              <a:gd name="T28" fmla="*/ 2646946 w 4022818"/>
              <a:gd name="T29" fmla="*/ 3826 h 1007038"/>
              <a:gd name="T30" fmla="*/ 2646946 w 4022818"/>
              <a:gd name="T31" fmla="*/ 3825 h 1007038"/>
              <a:gd name="T32" fmla="*/ 1917235 w 4022818"/>
              <a:gd name="T33" fmla="*/ 3825 h 1007038"/>
              <a:gd name="T34" fmla="*/ 1879286 w 4022818"/>
              <a:gd name="T35" fmla="*/ 1 h 1007038"/>
              <a:gd name="T36" fmla="*/ 1841333 w 4022818"/>
              <a:gd name="T37" fmla="*/ 3825 h 1007038"/>
              <a:gd name="T38" fmla="*/ 556085 w 4022818"/>
              <a:gd name="T39" fmla="*/ 3825 h 1007038"/>
              <a:gd name="T40" fmla="*/ 556085 w 4022818"/>
              <a:gd name="T41" fmla="*/ 5298 h 100703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4022818"/>
              <a:gd name="T64" fmla="*/ 0 h 1007038"/>
              <a:gd name="T65" fmla="*/ 4022818 w 4022818"/>
              <a:gd name="T66" fmla="*/ 1007038 h 100703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4022818" h="1007038">
                <a:moveTo>
                  <a:pt x="4022818" y="1006138"/>
                </a:moveTo>
                <a:lnTo>
                  <a:pt x="4021998" y="1007038"/>
                </a:lnTo>
                <a:lnTo>
                  <a:pt x="4022818" y="1007038"/>
                </a:lnTo>
                <a:lnTo>
                  <a:pt x="4022818" y="1006138"/>
                </a:lnTo>
                <a:close/>
                <a:moveTo>
                  <a:pt x="503518" y="0"/>
                </a:moveTo>
                <a:cubicBezTo>
                  <a:pt x="225433" y="0"/>
                  <a:pt x="0" y="225433"/>
                  <a:pt x="0" y="503518"/>
                </a:cubicBezTo>
                <a:cubicBezTo>
                  <a:pt x="0" y="781603"/>
                  <a:pt x="225433" y="1007036"/>
                  <a:pt x="503518" y="1007036"/>
                </a:cubicBezTo>
                <a:lnTo>
                  <a:pt x="556098" y="1001736"/>
                </a:lnTo>
                <a:lnTo>
                  <a:pt x="556098" y="1007037"/>
                </a:lnTo>
                <a:lnTo>
                  <a:pt x="1879329" y="1007037"/>
                </a:lnTo>
                <a:lnTo>
                  <a:pt x="1931909" y="1007037"/>
                </a:lnTo>
                <a:lnTo>
                  <a:pt x="1931909" y="1007038"/>
                </a:lnTo>
                <a:lnTo>
                  <a:pt x="4021998" y="1007038"/>
                </a:lnTo>
                <a:lnTo>
                  <a:pt x="4005886" y="9059"/>
                </a:lnTo>
                <a:lnTo>
                  <a:pt x="4010880" y="3828"/>
                </a:lnTo>
                <a:lnTo>
                  <a:pt x="2647007" y="3828"/>
                </a:lnTo>
                <a:lnTo>
                  <a:pt x="2647007" y="3827"/>
                </a:lnTo>
                <a:lnTo>
                  <a:pt x="1917279" y="3827"/>
                </a:lnTo>
                <a:lnTo>
                  <a:pt x="1879329" y="1"/>
                </a:lnTo>
                <a:lnTo>
                  <a:pt x="1841376" y="3827"/>
                </a:lnTo>
                <a:lnTo>
                  <a:pt x="556098" y="3827"/>
                </a:lnTo>
                <a:lnTo>
                  <a:pt x="556098" y="5301"/>
                </a:lnTo>
                <a:lnTo>
                  <a:pt x="503518" y="0"/>
                </a:lnTo>
                <a:close/>
              </a:path>
            </a:pathLst>
          </a:custGeom>
          <a:solidFill>
            <a:schemeClr val="accent1">
              <a:lumMod val="75000"/>
              <a:alpha val="39999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33460" y="2492940"/>
            <a:ext cx="9826833" cy="3985151"/>
            <a:chOff x="1136233" y="2473889"/>
            <a:chExt cx="9826833" cy="3985151"/>
          </a:xfrm>
        </p:grpSpPr>
        <p:sp>
          <p:nvSpPr>
            <p:cNvPr id="24585" name="任意多边形 85"/>
            <p:cNvSpPr>
              <a:spLocks noChangeArrowheads="1"/>
            </p:cNvSpPr>
            <p:nvPr/>
          </p:nvSpPr>
          <p:spPr bwMode="auto">
            <a:xfrm flipH="1">
              <a:off x="6236961" y="3389413"/>
              <a:ext cx="4726105" cy="1754321"/>
            </a:xfrm>
            <a:custGeom>
              <a:avLst/>
              <a:gdLst>
                <a:gd name="T0" fmla="*/ 4022725 w 4022818"/>
                <a:gd name="T1" fmla="*/ 1005576 h 1007038"/>
                <a:gd name="T2" fmla="*/ 4021905 w 4022818"/>
                <a:gd name="T3" fmla="*/ 1006475 h 1007038"/>
                <a:gd name="T4" fmla="*/ 4022725 w 4022818"/>
                <a:gd name="T5" fmla="*/ 1006475 h 1007038"/>
                <a:gd name="T6" fmla="*/ 503506 w 4022818"/>
                <a:gd name="T7" fmla="*/ 0 h 1007038"/>
                <a:gd name="T8" fmla="*/ 0 w 4022818"/>
                <a:gd name="T9" fmla="*/ 503237 h 1007038"/>
                <a:gd name="T10" fmla="*/ 503506 w 4022818"/>
                <a:gd name="T11" fmla="*/ 1006473 h 1007038"/>
                <a:gd name="T12" fmla="*/ 556085 w 4022818"/>
                <a:gd name="T13" fmla="*/ 1001176 h 1007038"/>
                <a:gd name="T14" fmla="*/ 556085 w 4022818"/>
                <a:gd name="T15" fmla="*/ 1006474 h 1007038"/>
                <a:gd name="T16" fmla="*/ 1879286 w 4022818"/>
                <a:gd name="T17" fmla="*/ 1006474 h 1007038"/>
                <a:gd name="T18" fmla="*/ 1931864 w 4022818"/>
                <a:gd name="T19" fmla="*/ 1006474 h 1007038"/>
                <a:gd name="T20" fmla="*/ 1931864 w 4022818"/>
                <a:gd name="T21" fmla="*/ 1006475 h 1007038"/>
                <a:gd name="T22" fmla="*/ 4021905 w 4022818"/>
                <a:gd name="T23" fmla="*/ 1006475 h 1007038"/>
                <a:gd name="T24" fmla="*/ 4005793 w 4022818"/>
                <a:gd name="T25" fmla="*/ 9054 h 1007038"/>
                <a:gd name="T26" fmla="*/ 4010787 w 4022818"/>
                <a:gd name="T27" fmla="*/ 3826 h 1007038"/>
                <a:gd name="T28" fmla="*/ 2646946 w 4022818"/>
                <a:gd name="T29" fmla="*/ 3826 h 1007038"/>
                <a:gd name="T30" fmla="*/ 2646946 w 4022818"/>
                <a:gd name="T31" fmla="*/ 3825 h 1007038"/>
                <a:gd name="T32" fmla="*/ 1917235 w 4022818"/>
                <a:gd name="T33" fmla="*/ 3825 h 1007038"/>
                <a:gd name="T34" fmla="*/ 1879286 w 4022818"/>
                <a:gd name="T35" fmla="*/ 1 h 1007038"/>
                <a:gd name="T36" fmla="*/ 1841333 w 4022818"/>
                <a:gd name="T37" fmla="*/ 3825 h 1007038"/>
                <a:gd name="T38" fmla="*/ 556085 w 4022818"/>
                <a:gd name="T39" fmla="*/ 3825 h 1007038"/>
                <a:gd name="T40" fmla="*/ 556085 w 4022818"/>
                <a:gd name="T41" fmla="*/ 5298 h 10070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022818"/>
                <a:gd name="T64" fmla="*/ 0 h 1007038"/>
                <a:gd name="T65" fmla="*/ 4022818 w 4022818"/>
                <a:gd name="T66" fmla="*/ 1007038 h 100703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022818" h="1007038">
                  <a:moveTo>
                    <a:pt x="4022818" y="1006138"/>
                  </a:moveTo>
                  <a:lnTo>
                    <a:pt x="4021998" y="1007038"/>
                  </a:lnTo>
                  <a:lnTo>
                    <a:pt x="4022818" y="1007038"/>
                  </a:lnTo>
                  <a:lnTo>
                    <a:pt x="4022818" y="1006138"/>
                  </a:lnTo>
                  <a:close/>
                  <a:moveTo>
                    <a:pt x="503518" y="0"/>
                  </a:moveTo>
                  <a:cubicBezTo>
                    <a:pt x="225433" y="0"/>
                    <a:pt x="0" y="225433"/>
                    <a:pt x="0" y="503518"/>
                  </a:cubicBezTo>
                  <a:cubicBezTo>
                    <a:pt x="0" y="781603"/>
                    <a:pt x="225433" y="1007036"/>
                    <a:pt x="503518" y="1007036"/>
                  </a:cubicBezTo>
                  <a:lnTo>
                    <a:pt x="556098" y="1001736"/>
                  </a:lnTo>
                  <a:lnTo>
                    <a:pt x="556098" y="1007037"/>
                  </a:lnTo>
                  <a:lnTo>
                    <a:pt x="1879329" y="1007037"/>
                  </a:lnTo>
                  <a:lnTo>
                    <a:pt x="1931909" y="1007037"/>
                  </a:lnTo>
                  <a:lnTo>
                    <a:pt x="1931909" y="1007038"/>
                  </a:lnTo>
                  <a:lnTo>
                    <a:pt x="4021998" y="1007038"/>
                  </a:lnTo>
                  <a:lnTo>
                    <a:pt x="4005886" y="9059"/>
                  </a:lnTo>
                  <a:lnTo>
                    <a:pt x="4010880" y="3828"/>
                  </a:lnTo>
                  <a:lnTo>
                    <a:pt x="2647007" y="3828"/>
                  </a:lnTo>
                  <a:lnTo>
                    <a:pt x="2647007" y="3827"/>
                  </a:lnTo>
                  <a:lnTo>
                    <a:pt x="1917279" y="3827"/>
                  </a:lnTo>
                  <a:lnTo>
                    <a:pt x="1879329" y="1"/>
                  </a:lnTo>
                  <a:lnTo>
                    <a:pt x="1841376" y="3827"/>
                  </a:lnTo>
                  <a:lnTo>
                    <a:pt x="556098" y="3827"/>
                  </a:lnTo>
                  <a:lnTo>
                    <a:pt x="556098" y="5301"/>
                  </a:lnTo>
                  <a:lnTo>
                    <a:pt x="503518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39999"/>
              </a:schemeClr>
            </a:solidFill>
            <a:ln w="12700" cap="flat" cmpd="sng">
              <a:solidFill>
                <a:srgbClr val="42719B"/>
              </a:solidFill>
              <a:bevel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88" name="任意多边形 87"/>
            <p:cNvSpPr>
              <a:spLocks noChangeArrowheads="1"/>
            </p:cNvSpPr>
            <p:nvPr/>
          </p:nvSpPr>
          <p:spPr bwMode="auto">
            <a:xfrm>
              <a:off x="1136233" y="4704719"/>
              <a:ext cx="5062537" cy="1754321"/>
            </a:xfrm>
            <a:custGeom>
              <a:avLst/>
              <a:gdLst>
                <a:gd name="T0" fmla="*/ 4022725 w 4022818"/>
                <a:gd name="T1" fmla="*/ 1005576 h 1007038"/>
                <a:gd name="T2" fmla="*/ 4021905 w 4022818"/>
                <a:gd name="T3" fmla="*/ 1006475 h 1007038"/>
                <a:gd name="T4" fmla="*/ 4022725 w 4022818"/>
                <a:gd name="T5" fmla="*/ 1006475 h 1007038"/>
                <a:gd name="T6" fmla="*/ 503506 w 4022818"/>
                <a:gd name="T7" fmla="*/ 0 h 1007038"/>
                <a:gd name="T8" fmla="*/ 0 w 4022818"/>
                <a:gd name="T9" fmla="*/ 503237 h 1007038"/>
                <a:gd name="T10" fmla="*/ 503506 w 4022818"/>
                <a:gd name="T11" fmla="*/ 1006473 h 1007038"/>
                <a:gd name="T12" fmla="*/ 556085 w 4022818"/>
                <a:gd name="T13" fmla="*/ 1001176 h 1007038"/>
                <a:gd name="T14" fmla="*/ 556085 w 4022818"/>
                <a:gd name="T15" fmla="*/ 1006474 h 1007038"/>
                <a:gd name="T16" fmla="*/ 1879286 w 4022818"/>
                <a:gd name="T17" fmla="*/ 1006474 h 1007038"/>
                <a:gd name="T18" fmla="*/ 1931864 w 4022818"/>
                <a:gd name="T19" fmla="*/ 1006474 h 1007038"/>
                <a:gd name="T20" fmla="*/ 1931864 w 4022818"/>
                <a:gd name="T21" fmla="*/ 1006475 h 1007038"/>
                <a:gd name="T22" fmla="*/ 4021905 w 4022818"/>
                <a:gd name="T23" fmla="*/ 1006475 h 1007038"/>
                <a:gd name="T24" fmla="*/ 4005793 w 4022818"/>
                <a:gd name="T25" fmla="*/ 9054 h 1007038"/>
                <a:gd name="T26" fmla="*/ 4010787 w 4022818"/>
                <a:gd name="T27" fmla="*/ 3826 h 1007038"/>
                <a:gd name="T28" fmla="*/ 2646946 w 4022818"/>
                <a:gd name="T29" fmla="*/ 3826 h 1007038"/>
                <a:gd name="T30" fmla="*/ 2646946 w 4022818"/>
                <a:gd name="T31" fmla="*/ 3825 h 1007038"/>
                <a:gd name="T32" fmla="*/ 1917235 w 4022818"/>
                <a:gd name="T33" fmla="*/ 3825 h 1007038"/>
                <a:gd name="T34" fmla="*/ 1879286 w 4022818"/>
                <a:gd name="T35" fmla="*/ 1 h 1007038"/>
                <a:gd name="T36" fmla="*/ 1841333 w 4022818"/>
                <a:gd name="T37" fmla="*/ 3825 h 1007038"/>
                <a:gd name="T38" fmla="*/ 556085 w 4022818"/>
                <a:gd name="T39" fmla="*/ 3825 h 1007038"/>
                <a:gd name="T40" fmla="*/ 556085 w 4022818"/>
                <a:gd name="T41" fmla="*/ 5298 h 10070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022818"/>
                <a:gd name="T64" fmla="*/ 0 h 1007038"/>
                <a:gd name="T65" fmla="*/ 4022818 w 4022818"/>
                <a:gd name="T66" fmla="*/ 1007038 h 100703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022818" h="1007038">
                  <a:moveTo>
                    <a:pt x="4022818" y="1006138"/>
                  </a:moveTo>
                  <a:lnTo>
                    <a:pt x="4021998" y="1007038"/>
                  </a:lnTo>
                  <a:lnTo>
                    <a:pt x="4022818" y="1007038"/>
                  </a:lnTo>
                  <a:lnTo>
                    <a:pt x="4022818" y="1006138"/>
                  </a:lnTo>
                  <a:close/>
                  <a:moveTo>
                    <a:pt x="503518" y="0"/>
                  </a:moveTo>
                  <a:cubicBezTo>
                    <a:pt x="225433" y="0"/>
                    <a:pt x="0" y="225433"/>
                    <a:pt x="0" y="503518"/>
                  </a:cubicBezTo>
                  <a:cubicBezTo>
                    <a:pt x="0" y="781603"/>
                    <a:pt x="225433" y="1007036"/>
                    <a:pt x="503518" y="1007036"/>
                  </a:cubicBezTo>
                  <a:lnTo>
                    <a:pt x="556098" y="1001736"/>
                  </a:lnTo>
                  <a:lnTo>
                    <a:pt x="556098" y="1007037"/>
                  </a:lnTo>
                  <a:lnTo>
                    <a:pt x="1879329" y="1007037"/>
                  </a:lnTo>
                  <a:lnTo>
                    <a:pt x="1931909" y="1007037"/>
                  </a:lnTo>
                  <a:lnTo>
                    <a:pt x="1931909" y="1007038"/>
                  </a:lnTo>
                  <a:lnTo>
                    <a:pt x="4021998" y="1007038"/>
                  </a:lnTo>
                  <a:lnTo>
                    <a:pt x="4005886" y="9059"/>
                  </a:lnTo>
                  <a:lnTo>
                    <a:pt x="4010880" y="3828"/>
                  </a:lnTo>
                  <a:lnTo>
                    <a:pt x="2647007" y="3828"/>
                  </a:lnTo>
                  <a:lnTo>
                    <a:pt x="2647007" y="3827"/>
                  </a:lnTo>
                  <a:lnTo>
                    <a:pt x="1917279" y="3827"/>
                  </a:lnTo>
                  <a:lnTo>
                    <a:pt x="1879329" y="1"/>
                  </a:lnTo>
                  <a:lnTo>
                    <a:pt x="1841376" y="3827"/>
                  </a:lnTo>
                  <a:lnTo>
                    <a:pt x="556098" y="3827"/>
                  </a:lnTo>
                  <a:lnTo>
                    <a:pt x="556098" y="5301"/>
                  </a:lnTo>
                  <a:lnTo>
                    <a:pt x="503518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 dirty="0">
                <a:highlight>
                  <a:srgbClr val="FFFF00"/>
                </a:highlight>
                <a:cs typeface="+mn-ea"/>
                <a:sym typeface="+mn-lt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6272302" y="3519957"/>
              <a:ext cx="4479238" cy="15442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使用者可以根據多種條件來篩選商品，如設定價格範圍、選擇指定的電商平台，以及根據價格、名稱或平台來源進行排序。這些篩選與排序選項能夠讓使用者更精確地找到符合需求的商品，提升使用體驗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646006" y="4822967"/>
              <a:ext cx="4552766" cy="32707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388550" y="2473889"/>
              <a:ext cx="4726105" cy="12487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系統會整合來自三個平台的商品資料，並根據價格進行排序，讓使用者能夠快速比較不同平台上的相同商品價格。這樣的功能可以幫助使用者選擇最具競爭力的價格，提高購物效率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0B314CF-31EB-491B-B7C6-AA5556B40AF5}"/>
              </a:ext>
            </a:extLst>
          </p:cNvPr>
          <p:cNvSpPr txBox="1"/>
          <p:nvPr/>
        </p:nvSpPr>
        <p:spPr>
          <a:xfrm>
            <a:off x="1296880" y="4974052"/>
            <a:ext cx="46257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bg1"/>
                </a:solidFill>
              </a:rPr>
              <a:t>把整理好的商品清單存成一個 </a:t>
            </a:r>
            <a:r>
              <a:rPr lang="en-US" altLang="zh-TW" sz="1600" dirty="0">
                <a:solidFill>
                  <a:schemeClr val="bg1"/>
                </a:solidFill>
              </a:rPr>
              <a:t>CSV </a:t>
            </a:r>
            <a:r>
              <a:rPr lang="zh-TW" altLang="en-US" sz="1600" dirty="0">
                <a:solidFill>
                  <a:schemeClr val="bg1"/>
                </a:solidFill>
              </a:rPr>
              <a:t>文件，這種格式可以直接打開，像 </a:t>
            </a:r>
            <a:r>
              <a:rPr lang="en-US" altLang="zh-TW" sz="1600" dirty="0">
                <a:solidFill>
                  <a:schemeClr val="bg1"/>
                </a:solidFill>
              </a:rPr>
              <a:t>Excel </a:t>
            </a:r>
            <a:r>
              <a:rPr lang="zh-TW" altLang="en-US" sz="1600" dirty="0">
                <a:solidFill>
                  <a:schemeClr val="bg1"/>
                </a:solidFill>
              </a:rPr>
              <a:t>表格一樣看得清清楚楚。如果清單裡有價格、名稱、連結等等資訊，</a:t>
            </a:r>
            <a:r>
              <a:rPr lang="en-US" altLang="zh-TW" sz="1600" dirty="0">
                <a:solidFill>
                  <a:schemeClr val="bg1"/>
                </a:solidFill>
              </a:rPr>
              <a:t>CSV </a:t>
            </a:r>
            <a:r>
              <a:rPr lang="zh-TW" altLang="en-US" sz="1600" dirty="0">
                <a:solidFill>
                  <a:schemeClr val="bg1"/>
                </a:solidFill>
              </a:rPr>
              <a:t>檔會把這些一行一行地記錄下來，讓你方便查閱。</a:t>
            </a:r>
          </a:p>
        </p:txBody>
      </p:sp>
      <p:grpSp>
        <p:nvGrpSpPr>
          <p:cNvPr id="60" name="组合 27">
            <a:extLst>
              <a:ext uri="{FF2B5EF4-FFF2-40B4-BE49-F238E27FC236}">
                <a16:creationId xmlns:a16="http://schemas.microsoft.com/office/drawing/2014/main" id="{DE1DD32B-7D74-4C57-BC2A-C807F7F0D11E}"/>
              </a:ext>
            </a:extLst>
          </p:cNvPr>
          <p:cNvGrpSpPr/>
          <p:nvPr/>
        </p:nvGrpSpPr>
        <p:grpSpPr>
          <a:xfrm>
            <a:off x="1891401" y="1437988"/>
            <a:ext cx="4171462" cy="644278"/>
            <a:chOff x="1154862" y="3005024"/>
            <a:chExt cx="4171462" cy="644278"/>
          </a:xfrm>
        </p:grpSpPr>
        <p:sp>
          <p:nvSpPr>
            <p:cNvPr id="61" name="圆角矩形 13">
              <a:extLst>
                <a:ext uri="{FF2B5EF4-FFF2-40B4-BE49-F238E27FC236}">
                  <a16:creationId xmlns:a16="http://schemas.microsoft.com/office/drawing/2014/main" id="{EEA4D1E9-3169-4B43-ADBC-B2DFA8694C8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84274" y="3080467"/>
              <a:ext cx="4142050" cy="478072"/>
            </a:xfrm>
            <a:prstGeom prst="roundRect">
              <a:avLst>
                <a:gd name="adj" fmla="val 50000"/>
              </a:avLst>
            </a:prstGeom>
            <a:solidFill>
              <a:srgbClr val="FCFCFC">
                <a:alpha val="34117"/>
              </a:srgbClr>
            </a:solidFill>
            <a:ln w="12700" cap="flat" cmpd="sng">
              <a:solidFill>
                <a:schemeClr val="bg1">
                  <a:alpha val="70000"/>
                </a:schemeClr>
              </a:solidFill>
              <a:bevel/>
              <a:headEnd/>
              <a:tailEnd/>
            </a:ln>
          </p:spPr>
          <p:txBody>
            <a:bodyPr anchor="ctr"/>
            <a:lstStyle/>
            <a:p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2" name="椭圆 16">
              <a:extLst>
                <a:ext uri="{FF2B5EF4-FFF2-40B4-BE49-F238E27FC236}">
                  <a16:creationId xmlns:a16="http://schemas.microsoft.com/office/drawing/2014/main" id="{35570366-771B-4782-8FC6-E378C7E4709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680179" y="3005024"/>
              <a:ext cx="646145" cy="644278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cs typeface="+mn-ea"/>
                  <a:sym typeface="+mn-lt"/>
                </a:rPr>
                <a:t>1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3">
              <a:extLst>
                <a:ext uri="{FF2B5EF4-FFF2-40B4-BE49-F238E27FC236}">
                  <a16:creationId xmlns:a16="http://schemas.microsoft.com/office/drawing/2014/main" id="{4EA11F2B-0F80-4FC1-AB76-168CC732BEBA}"/>
                </a:ext>
              </a:extLst>
            </p:cNvPr>
            <p:cNvSpPr txBox="1"/>
            <p:nvPr/>
          </p:nvSpPr>
          <p:spPr>
            <a:xfrm>
              <a:off x="1154862" y="3108403"/>
              <a:ext cx="4171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2400" dirty="0">
                  <a:solidFill>
                    <a:schemeClr val="bg1"/>
                  </a:solidFill>
                </a:rPr>
                <a:t>比價功能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64" name="组合 30">
            <a:extLst>
              <a:ext uri="{FF2B5EF4-FFF2-40B4-BE49-F238E27FC236}">
                <a16:creationId xmlns:a16="http://schemas.microsoft.com/office/drawing/2014/main" id="{8F36873F-A9DB-4540-88D5-5365B8F96F13}"/>
              </a:ext>
            </a:extLst>
          </p:cNvPr>
          <p:cNvGrpSpPr/>
          <p:nvPr/>
        </p:nvGrpSpPr>
        <p:grpSpPr>
          <a:xfrm>
            <a:off x="6095995" y="2765587"/>
            <a:ext cx="4277145" cy="644278"/>
            <a:chOff x="6904336" y="3005024"/>
            <a:chExt cx="4277145" cy="644278"/>
          </a:xfrm>
        </p:grpSpPr>
        <p:sp>
          <p:nvSpPr>
            <p:cNvPr id="65" name="圆角矩形 19">
              <a:extLst>
                <a:ext uri="{FF2B5EF4-FFF2-40B4-BE49-F238E27FC236}">
                  <a16:creationId xmlns:a16="http://schemas.microsoft.com/office/drawing/2014/main" id="{38C95C42-775B-4EA1-9BB5-12BCE86450A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904337" y="3080467"/>
              <a:ext cx="4106564" cy="478072"/>
            </a:xfrm>
            <a:prstGeom prst="roundRect">
              <a:avLst>
                <a:gd name="adj" fmla="val 50000"/>
              </a:avLst>
            </a:prstGeom>
            <a:solidFill>
              <a:srgbClr val="FCFCFC">
                <a:alpha val="34117"/>
              </a:srgbClr>
            </a:solidFill>
            <a:ln w="12700" cap="flat" cmpd="sng">
              <a:solidFill>
                <a:schemeClr val="bg1">
                  <a:alpha val="70000"/>
                </a:schemeClr>
              </a:solidFill>
              <a:bevel/>
              <a:headEnd/>
              <a:tailEnd/>
            </a:ln>
          </p:spPr>
          <p:txBody>
            <a:bodyPr anchor="ctr"/>
            <a:lstStyle/>
            <a:p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6" name="椭圆 20">
              <a:extLst>
                <a:ext uri="{FF2B5EF4-FFF2-40B4-BE49-F238E27FC236}">
                  <a16:creationId xmlns:a16="http://schemas.microsoft.com/office/drawing/2014/main" id="{BE889518-DA44-4C6D-BDE1-A114847A5E0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904336" y="3005024"/>
              <a:ext cx="644277" cy="644278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r>
                <a:rPr lang="en-US" altLang="zh-TW" dirty="0">
                  <a:cs typeface="+mn-ea"/>
                  <a:sym typeface="+mn-lt"/>
                </a:rPr>
                <a:t>2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7" name="文本框 25">
              <a:extLst>
                <a:ext uri="{FF2B5EF4-FFF2-40B4-BE49-F238E27FC236}">
                  <a16:creationId xmlns:a16="http://schemas.microsoft.com/office/drawing/2014/main" id="{958E3413-6AB8-4A1C-B9D3-73545D3282AD}"/>
                </a:ext>
              </a:extLst>
            </p:cNvPr>
            <p:cNvSpPr txBox="1"/>
            <p:nvPr/>
          </p:nvSpPr>
          <p:spPr>
            <a:xfrm>
              <a:off x="7010019" y="3080466"/>
              <a:ext cx="4171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2400" dirty="0">
                  <a:solidFill>
                    <a:schemeClr val="bg1"/>
                  </a:solidFill>
                </a:rPr>
                <a:t>篩選與排序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68" name="组合 28">
            <a:extLst>
              <a:ext uri="{FF2B5EF4-FFF2-40B4-BE49-F238E27FC236}">
                <a16:creationId xmlns:a16="http://schemas.microsoft.com/office/drawing/2014/main" id="{88F7A3DB-9139-4680-BF5A-2DC62DB5A9A1}"/>
              </a:ext>
            </a:extLst>
          </p:cNvPr>
          <p:cNvGrpSpPr/>
          <p:nvPr/>
        </p:nvGrpSpPr>
        <p:grpSpPr>
          <a:xfrm>
            <a:off x="1891401" y="4040043"/>
            <a:ext cx="4173323" cy="891722"/>
            <a:chOff x="1153001" y="4002254"/>
            <a:chExt cx="4173323" cy="891722"/>
          </a:xfrm>
        </p:grpSpPr>
        <p:sp>
          <p:nvSpPr>
            <p:cNvPr id="69" name="圆角矩形 14">
              <a:extLst>
                <a:ext uri="{FF2B5EF4-FFF2-40B4-BE49-F238E27FC236}">
                  <a16:creationId xmlns:a16="http://schemas.microsoft.com/office/drawing/2014/main" id="{312F1A0E-DD01-43F9-A91F-EFF6100F867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184274" y="4079564"/>
              <a:ext cx="4142050" cy="478072"/>
            </a:xfrm>
            <a:prstGeom prst="roundRect">
              <a:avLst>
                <a:gd name="adj" fmla="val 50000"/>
              </a:avLst>
            </a:prstGeom>
            <a:solidFill>
              <a:srgbClr val="FCFCFC">
                <a:alpha val="34117"/>
              </a:srgbClr>
            </a:solidFill>
            <a:ln w="12700" cap="flat" cmpd="sng">
              <a:solidFill>
                <a:schemeClr val="bg1">
                  <a:alpha val="70000"/>
                </a:schemeClr>
              </a:solidFill>
              <a:bevel/>
              <a:headEnd/>
              <a:tailEnd/>
            </a:ln>
          </p:spPr>
          <p:txBody>
            <a:bodyPr anchor="ctr"/>
            <a:lstStyle/>
            <a:p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0" name="椭圆 17">
              <a:extLst>
                <a:ext uri="{FF2B5EF4-FFF2-40B4-BE49-F238E27FC236}">
                  <a16:creationId xmlns:a16="http://schemas.microsoft.com/office/drawing/2014/main" id="{4600F48A-6248-4DC9-9EB0-608727275E8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80179" y="4002254"/>
              <a:ext cx="646145" cy="646145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 w="28575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1" name="文本框 24">
              <a:extLst>
                <a:ext uri="{FF2B5EF4-FFF2-40B4-BE49-F238E27FC236}">
                  <a16:creationId xmlns:a16="http://schemas.microsoft.com/office/drawing/2014/main" id="{F8252A80-BDA6-401E-8F0F-F8C729E100B7}"/>
                </a:ext>
              </a:extLst>
            </p:cNvPr>
            <p:cNvSpPr txBox="1"/>
            <p:nvPr/>
          </p:nvSpPr>
          <p:spPr>
            <a:xfrm>
              <a:off x="1153001" y="4062979"/>
              <a:ext cx="41714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defRPr/>
              </a:pPr>
              <a:r>
                <a:rPr lang="zh-TW" altLang="en-US" sz="2400" dirty="0">
                  <a:solidFill>
                    <a:schemeClr val="bg1"/>
                  </a:solidFill>
                </a:rPr>
                <a:t>儲存資料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1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9" grpId="0" animBg="1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/>
          <p:cNvSpPr txBox="1"/>
          <p:nvPr/>
        </p:nvSpPr>
        <p:spPr>
          <a:xfrm>
            <a:off x="142072" y="185807"/>
            <a:ext cx="483132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互動式用戶介面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1619250"/>
            <a:ext cx="12203113" cy="2155825"/>
            <a:chOff x="0" y="1619250"/>
            <a:chExt cx="12203113" cy="2155825"/>
          </a:xfrm>
        </p:grpSpPr>
        <p:sp>
          <p:nvSpPr>
            <p:cNvPr id="12293" name="矩形 8"/>
            <p:cNvSpPr>
              <a:spLocks noChangeArrowheads="1"/>
            </p:cNvSpPr>
            <p:nvPr/>
          </p:nvSpPr>
          <p:spPr bwMode="auto">
            <a:xfrm>
              <a:off x="11195050" y="1619250"/>
              <a:ext cx="1008063" cy="2143125"/>
            </a:xfrm>
            <a:prstGeom prst="rect">
              <a:avLst/>
            </a:pr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96" name="矩形 11"/>
            <p:cNvSpPr>
              <a:spLocks noChangeArrowheads="1"/>
            </p:cNvSpPr>
            <p:nvPr/>
          </p:nvSpPr>
          <p:spPr bwMode="auto">
            <a:xfrm>
              <a:off x="0" y="1631950"/>
              <a:ext cx="8261350" cy="2143125"/>
            </a:xfrm>
            <a:prstGeom prst="rect">
              <a:avLst/>
            </a:prstGeom>
            <a:solidFill>
              <a:srgbClr val="FEFEFE">
                <a:alpha val="60000"/>
              </a:srgbClr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89810" y="1941274"/>
              <a:ext cx="7881729" cy="132343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TW" altLang="en-US" sz="4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使用 </a:t>
              </a:r>
              <a:r>
                <a:rPr lang="en-US" altLang="zh-TW" sz="4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input() </a:t>
              </a:r>
              <a:r>
                <a:rPr lang="zh-TW" altLang="en-US" sz="4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與使用者互動，接收搜尋關鍵字及篩選條件等參數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0" y="3794125"/>
            <a:ext cx="12196763" cy="2143125"/>
            <a:chOff x="0" y="3794125"/>
            <a:chExt cx="12196763" cy="2143125"/>
          </a:xfrm>
        </p:grpSpPr>
        <p:sp>
          <p:nvSpPr>
            <p:cNvPr id="12297" name="矩形 12"/>
            <p:cNvSpPr>
              <a:spLocks noChangeArrowheads="1"/>
            </p:cNvSpPr>
            <p:nvPr/>
          </p:nvSpPr>
          <p:spPr bwMode="auto">
            <a:xfrm>
              <a:off x="3940175" y="3794125"/>
              <a:ext cx="8256588" cy="2143125"/>
            </a:xfrm>
            <a:prstGeom prst="rect">
              <a:avLst/>
            </a:prstGeom>
            <a:solidFill>
              <a:srgbClr val="FEFEFE">
                <a:alpha val="60000"/>
              </a:srgbClr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98" name="矩形 13"/>
            <p:cNvSpPr>
              <a:spLocks noChangeArrowheads="1"/>
            </p:cNvSpPr>
            <p:nvPr/>
          </p:nvSpPr>
          <p:spPr bwMode="auto">
            <a:xfrm>
              <a:off x="0" y="3794125"/>
              <a:ext cx="890588" cy="2143125"/>
            </a:xfrm>
            <a:prstGeom prst="rect">
              <a:avLst/>
            </a:pr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305601" y="4436232"/>
              <a:ext cx="7525735" cy="76899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40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以簡潔明瞭的格式展示商品資訊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endParaRPr>
            </a:p>
          </p:txBody>
        </p:sp>
      </p:grpSp>
      <p:pic>
        <p:nvPicPr>
          <p:cNvPr id="9" name="圖片版面配置區 8">
            <a:extLst>
              <a:ext uri="{FF2B5EF4-FFF2-40B4-BE49-F238E27FC236}">
                <a16:creationId xmlns:a16="http://schemas.microsoft.com/office/drawing/2014/main" id="{8CE940FA-598B-496D-ADC0-12DE352ECC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8" r="12708"/>
          <a:stretch>
            <a:fillRect/>
          </a:stretch>
        </p:blipFill>
        <p:spPr/>
      </p:pic>
      <p:pic>
        <p:nvPicPr>
          <p:cNvPr id="13" name="圖片版面配置區 12">
            <a:extLst>
              <a:ext uri="{FF2B5EF4-FFF2-40B4-BE49-F238E27FC236}">
                <a16:creationId xmlns:a16="http://schemas.microsoft.com/office/drawing/2014/main" id="{5C1FB76A-7B3E-49B7-811D-79A34BDE0A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" r="16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5545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158123" y="79514"/>
            <a:ext cx="4423816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爬取結果呈現方式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2892" y="2106574"/>
            <a:ext cx="4961422" cy="1825175"/>
            <a:chOff x="6289674" y="1371600"/>
            <a:chExt cx="4961422" cy="1825175"/>
          </a:xfrm>
        </p:grpSpPr>
        <p:sp>
          <p:nvSpPr>
            <p:cNvPr id="8200" name="圆角矩形 11"/>
            <p:cNvSpPr>
              <a:spLocks noChangeArrowheads="1"/>
            </p:cNvSpPr>
            <p:nvPr/>
          </p:nvSpPr>
          <p:spPr bwMode="auto">
            <a:xfrm>
              <a:off x="6289674" y="1371600"/>
              <a:ext cx="4961421" cy="1825175"/>
            </a:xfrm>
            <a:prstGeom prst="roundRect">
              <a:avLst>
                <a:gd name="adj" fmla="val 22148"/>
              </a:avLst>
            </a:prstGeom>
            <a:solidFill>
              <a:schemeClr val="accent1">
                <a:lumMod val="75000"/>
                <a:alpha val="50195"/>
              </a:schemeClr>
            </a:solidFill>
            <a:ln w="635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394450" y="1480517"/>
              <a:ext cx="4856646" cy="153785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標楷體" panose="03000509000000000000" pitchFamily="65" charset="-120"/>
                  <a:ea typeface="標楷體" panose="03000509000000000000" pitchFamily="65" charset="-120"/>
                  <a:cs typeface="+mn-ea"/>
                  <a:sym typeface="+mn-lt"/>
                </a:rPr>
                <a:t>在搜尋欄位輸入所需的商品關鍵字、最低價格、最高價格以及篩選平台，就會顯示出設定參數的商品名稱、價格、平台、連結</a:t>
              </a:r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D3C20306-6B33-4B08-A253-F54AD3A0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205" y="1624013"/>
            <a:ext cx="6304584" cy="4706994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6A3BDBFF-3EB1-4DD3-91B1-5F12849D4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31659"/>
            <a:ext cx="5887205" cy="98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8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六边形 8"/>
          <p:cNvSpPr>
            <a:spLocks noChangeArrowheads="1"/>
          </p:cNvSpPr>
          <p:nvPr/>
        </p:nvSpPr>
        <p:spPr bwMode="auto">
          <a:xfrm rot="5400000">
            <a:off x="1006475" y="1595228"/>
            <a:ext cx="2965450" cy="2203450"/>
          </a:xfrm>
          <a:prstGeom prst="hexagon">
            <a:avLst>
              <a:gd name="adj" fmla="val 25018"/>
              <a:gd name="vf" fmla="val 115470"/>
            </a:avLst>
          </a:prstGeom>
          <a:solidFill>
            <a:schemeClr val="accent1">
              <a:lumMod val="75000"/>
              <a:alpha val="39999"/>
            </a:scheme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15367" name="六边形 10"/>
          <p:cNvSpPr>
            <a:spLocks noChangeArrowheads="1"/>
          </p:cNvSpPr>
          <p:nvPr/>
        </p:nvSpPr>
        <p:spPr bwMode="auto">
          <a:xfrm rot="5400000">
            <a:off x="4596609" y="1624258"/>
            <a:ext cx="2965446" cy="220503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lumMod val="75000"/>
              <a:alpha val="39999"/>
            </a:scheme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15369" name="六边形 12"/>
          <p:cNvSpPr>
            <a:spLocks noChangeArrowheads="1"/>
          </p:cNvSpPr>
          <p:nvPr/>
        </p:nvSpPr>
        <p:spPr bwMode="auto">
          <a:xfrm rot="5400000">
            <a:off x="8226425" y="1575354"/>
            <a:ext cx="2965450" cy="2203450"/>
          </a:xfrm>
          <a:prstGeom prst="hexagon">
            <a:avLst>
              <a:gd name="adj" fmla="val 25018"/>
              <a:gd name="vf" fmla="val 115470"/>
            </a:avLst>
          </a:prstGeom>
          <a:solidFill>
            <a:schemeClr val="accent1">
              <a:lumMod val="75000"/>
              <a:alpha val="39999"/>
            </a:scheme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687070"/>
            <a:ext cx="12192965" cy="694056"/>
            <a:chOff x="0" y="623570"/>
            <a:chExt cx="12192965" cy="694056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128306" y="117056"/>
            <a:ext cx="136256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展望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23526" y="4228880"/>
            <a:ext cx="2775374" cy="205876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1.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使用多執行緒或非同步處理如</a:t>
            </a: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:</a:t>
            </a:r>
            <a:r>
              <a:rPr lang="en-US" altLang="zh-TW" dirty="0" err="1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asyncio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，提高爬取速率</a:t>
            </a:r>
            <a:endParaRPr lang="en-US" altLang="zh-TW" dirty="0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2.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選擇更高效的資料庫，若資料量龐大，可考慮使用</a:t>
            </a: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MySQL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或</a:t>
            </a: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PostgreSQL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36675" y="3063253"/>
            <a:ext cx="2349076" cy="56598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提升爬取效能</a:t>
            </a:r>
          </a:p>
        </p:txBody>
      </p:sp>
      <p:sp>
        <p:nvSpPr>
          <p:cNvPr id="36" name="矩形 35"/>
          <p:cNvSpPr/>
          <p:nvPr/>
        </p:nvSpPr>
        <p:spPr>
          <a:xfrm>
            <a:off x="4921462" y="2939325"/>
            <a:ext cx="2349076" cy="108305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TW" altLang="en-US" sz="28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增強系統</a:t>
            </a:r>
            <a:endParaRPr lang="en-US" altLang="zh-TW" sz="2800" b="1" dirty="0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TW" altLang="en-US" sz="28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穩定性</a:t>
            </a:r>
          </a:p>
        </p:txBody>
      </p:sp>
      <p:sp>
        <p:nvSpPr>
          <p:cNvPr id="37" name="矩形 36"/>
          <p:cNvSpPr/>
          <p:nvPr/>
        </p:nvSpPr>
        <p:spPr>
          <a:xfrm>
            <a:off x="8570398" y="2804720"/>
            <a:ext cx="2349076" cy="108305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TW" altLang="en-US" sz="28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結果呈現</a:t>
            </a:r>
            <a:endParaRPr lang="en-US" altLang="zh-TW" sz="2800" b="1" dirty="0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TW" altLang="en-US" sz="28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與分析</a:t>
            </a:r>
          </a:p>
        </p:txBody>
      </p:sp>
      <p:sp>
        <p:nvSpPr>
          <p:cNvPr id="38" name="矩形 37"/>
          <p:cNvSpPr/>
          <p:nvPr/>
        </p:nvSpPr>
        <p:spPr>
          <a:xfrm>
            <a:off x="4746861" y="4249582"/>
            <a:ext cx="2775374" cy="17263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1.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增加測試案例，特別是針對網站結構變化的兼容性測試</a:t>
            </a:r>
            <a:endParaRPr lang="en-US" altLang="zh-TW" dirty="0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2.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強化錯誤處理機制，提升系統的穩定性和可靠性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70197" y="4224666"/>
            <a:ext cx="2775374" cy="139397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1.</a:t>
            </a:r>
            <a:r>
              <a:rPr lang="zh-CN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提供圖形化的</a:t>
            </a:r>
            <a:r>
              <a:rPr lang="zh-CN" altLang="en-US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結果呈現</a:t>
            </a:r>
            <a:r>
              <a:rPr lang="en-US" altLang="zh-TW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2</a:t>
            </a:r>
            <a:r>
              <a:rPr lang="en-US" altLang="zh-TW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.</a:t>
            </a:r>
            <a:r>
              <a:rPr lang="zh-TW" altLang="en-US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ea"/>
                <a:sym typeface="+mn-lt"/>
              </a:rPr>
              <a:t>提供價格比較的互動界面，提升使用者操作直覺性</a:t>
            </a:r>
          </a:p>
        </p:txBody>
      </p:sp>
      <p:pic>
        <p:nvPicPr>
          <p:cNvPr id="16" name="圖片版面配置區 15">
            <a:extLst>
              <a:ext uri="{FF2B5EF4-FFF2-40B4-BE49-F238E27FC236}">
                <a16:creationId xmlns:a16="http://schemas.microsoft.com/office/drawing/2014/main" id="{FAB735D3-FC0E-406D-BA8E-C0DBC9650A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1800" y="1531714"/>
            <a:ext cx="1568450" cy="1568450"/>
          </a:xfrm>
        </p:spPr>
      </p:pic>
      <p:pic>
        <p:nvPicPr>
          <p:cNvPr id="40" name="圖片版面配置區 39">
            <a:extLst>
              <a:ext uri="{FF2B5EF4-FFF2-40B4-BE49-F238E27FC236}">
                <a16:creationId xmlns:a16="http://schemas.microsoft.com/office/drawing/2014/main" id="{5B4CA59B-E76F-4452-823D-6A02D946E7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" t="7551" r="51" b="7551"/>
          <a:stretch/>
        </p:blipFill>
        <p:spPr>
          <a:xfrm>
            <a:off x="5138446" y="1619990"/>
            <a:ext cx="1921459" cy="1632953"/>
          </a:xfrm>
        </p:spPr>
      </p:pic>
      <p:pic>
        <p:nvPicPr>
          <p:cNvPr id="48" name="圖片版面配置區 47">
            <a:extLst>
              <a:ext uri="{FF2B5EF4-FFF2-40B4-BE49-F238E27FC236}">
                <a16:creationId xmlns:a16="http://schemas.microsoft.com/office/drawing/2014/main" id="{BB4CAB1E-5294-45EB-AD41-AAC650CFFF8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21750" y="1501895"/>
            <a:ext cx="1568450" cy="1568450"/>
          </a:xfrm>
        </p:spPr>
      </p:pic>
    </p:spTree>
    <p:extLst>
      <p:ext uri="{BB962C8B-B14F-4D97-AF65-F5344CB8AC3E}">
        <p14:creationId xmlns:p14="http://schemas.microsoft.com/office/powerpoint/2010/main" val="46656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  <p:bldP spid="15367" grpId="0" animBg="1"/>
      <p:bldP spid="15369" grpId="0" animBg="1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7782" y="2007993"/>
            <a:ext cx="7373150" cy="1685735"/>
            <a:chOff x="767782" y="2007993"/>
            <a:chExt cx="7373150" cy="1685735"/>
          </a:xfrm>
        </p:grpSpPr>
        <p:sp>
          <p:nvSpPr>
            <p:cNvPr id="9" name="PA_矩形 6"/>
            <p:cNvSpPr/>
            <p:nvPr>
              <p:custDataLst>
                <p:tags r:id="rId1"/>
              </p:custDataLst>
            </p:nvPr>
          </p:nvSpPr>
          <p:spPr>
            <a:xfrm rot="2700000">
              <a:off x="4245793" y="3520948"/>
              <a:ext cx="172780" cy="1727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PA_直接连接符 8"/>
            <p:cNvCxnSpPr/>
            <p:nvPr>
              <p:custDataLst>
                <p:tags r:id="rId2"/>
              </p:custDataLst>
            </p:nvPr>
          </p:nvCxnSpPr>
          <p:spPr>
            <a:xfrm flipH="1">
              <a:off x="2726971" y="3607338"/>
              <a:ext cx="1367849" cy="0"/>
            </a:xfrm>
            <a:prstGeom prst="line">
              <a:avLst/>
            </a:prstGeom>
            <a:solidFill>
              <a:schemeClr val="bg1"/>
            </a:soli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PA_直接连接符 9"/>
            <p:cNvCxnSpPr/>
            <p:nvPr>
              <p:custDataLst>
                <p:tags r:id="rId3"/>
              </p:custDataLst>
            </p:nvPr>
          </p:nvCxnSpPr>
          <p:spPr>
            <a:xfrm flipH="1">
              <a:off x="4584367" y="3607338"/>
              <a:ext cx="1310256" cy="0"/>
            </a:xfrm>
            <a:prstGeom prst="line">
              <a:avLst/>
            </a:prstGeom>
            <a:solidFill>
              <a:schemeClr val="bg1"/>
            </a:solidFill>
            <a:ln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767782" y="2050958"/>
              <a:ext cx="737315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defRPr/>
              </a:pPr>
              <a:r>
                <a:rPr kumimoji="0" lang="en-US" altLang="zh-TW" sz="80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88900" dist="50800" dir="2700000" algn="tl" rotWithShape="0">
                      <a:prstClr val="black">
                        <a:alpha val="65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Q&amp;A</a:t>
              </a:r>
              <a:r>
                <a:rPr kumimoji="0" lang="zh-TW" altLang="en-US" sz="80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88900" dist="50800" dir="2700000" algn="tl" rotWithShape="0">
                      <a:prstClr val="black">
                        <a:alpha val="65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時間</a:t>
              </a:r>
              <a:endParaRPr kumimoji="0" lang="zh-CN" altLang="en-US" sz="80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88900" dist="50800" dir="2700000" algn="tl" rotWithShape="0">
                    <a:prstClr val="black">
                      <a:alpha val="65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796761" y="2007993"/>
              <a:ext cx="302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9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商务云科技大数据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Freeform 9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Oval 4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Freeform 9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Oval 5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Freeform 9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2121058"/>
  <p:tag name="MH_LIBRARY" val="GRAPHIC"/>
  <p:tag name="MH_ORDER" val="Oval 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包图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644</Words>
  <Application>Microsoft Office PowerPoint</Application>
  <PresentationFormat>寬螢幕</PresentationFormat>
  <Paragraphs>62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等线</vt:lpstr>
      <vt:lpstr>Microsoft JhengHei UI</vt:lpstr>
      <vt:lpstr>標楷體</vt:lpstr>
      <vt:lpstr>Arial</vt:lpstr>
      <vt:lpstr>Times New Roman</vt:lpstr>
      <vt:lpstr>包图主题2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金本立</cp:lastModifiedBy>
  <cp:revision>60</cp:revision>
  <dcterms:created xsi:type="dcterms:W3CDTF">2017-07-11T08:34:15Z</dcterms:created>
  <dcterms:modified xsi:type="dcterms:W3CDTF">2025-01-03T06:34:50Z</dcterms:modified>
</cp:coreProperties>
</file>